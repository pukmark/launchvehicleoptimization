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00f335044b464b" /><Relationship Type="http://schemas.openxmlformats.org/officeDocument/2006/relationships/extended-properties" Target="/docProps/app.xml" Id="R2cade71e31564c07" /><Relationship Type="http://schemas.openxmlformats.org/officeDocument/2006/relationships/officeDocument" Target="/ppt/presentation.xml" Id="R3a91cb007f1746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6c3c50263c473f"/>
  </p:sldMasterIdLst>
  <p:notesMasterIdLst>
    <p:notesMasterId xmlns:r="http://schemas.openxmlformats.org/officeDocument/2006/relationships" r:id="R01ec52a3cb874d97"/>
  </p:notesMasterIdLst>
  <p:sldIdLst>
    <p:sldId xmlns:r="http://schemas.openxmlformats.org/officeDocument/2006/relationships" id="256" r:id="R9731210d957146c9"/>
    <p:sldId xmlns:r="http://schemas.openxmlformats.org/officeDocument/2006/relationships" id="257" r:id="R71c964b00cb9433c"/>
    <p:sldId xmlns:r="http://schemas.openxmlformats.org/officeDocument/2006/relationships" id="258" r:id="Rd6be38166def4ae8"/>
    <p:sldId xmlns:r="http://schemas.openxmlformats.org/officeDocument/2006/relationships" id="259" r:id="Rae74dc38f7f3401e"/>
    <p:sldId xmlns:r="http://schemas.openxmlformats.org/officeDocument/2006/relationships" id="260" r:id="Rdcefd8aaaa714c16"/>
    <p:sldId xmlns:r="http://schemas.openxmlformats.org/officeDocument/2006/relationships" id="261" r:id="R841fc78b18734e68"/>
    <p:sldId xmlns:r="http://schemas.openxmlformats.org/officeDocument/2006/relationships" id="262" r:id="Rb3b5870c1ce143ec"/>
    <p:sldId xmlns:r="http://schemas.openxmlformats.org/officeDocument/2006/relationships" id="263" r:id="R9c31efd3c7ec4579"/>
    <p:sldId xmlns:r="http://schemas.openxmlformats.org/officeDocument/2006/relationships" id="264" r:id="Ra821ce80b95744bf"/>
    <p:sldId xmlns:r="http://schemas.openxmlformats.org/officeDocument/2006/relationships" id="265" r:id="Ra678cba823d04cc3"/>
    <p:sldId xmlns:r="http://schemas.openxmlformats.org/officeDocument/2006/relationships" id="266" r:id="Rbd79d45e990e4ae8"/>
    <p:sldId xmlns:r="http://schemas.openxmlformats.org/officeDocument/2006/relationships" id="267" r:id="R46907eba6d5d4af4"/>
    <p:sldId xmlns:r="http://schemas.openxmlformats.org/officeDocument/2006/relationships" id="268" r:id="Rbb721e7364e34732"/>
    <p:sldId xmlns:r="http://schemas.openxmlformats.org/officeDocument/2006/relationships" id="269" r:id="Raa04abaaa8d34fcd"/>
    <p:sldId xmlns:r="http://schemas.openxmlformats.org/officeDocument/2006/relationships" id="270" r:id="R7527b2f10b6142f0"/>
    <p:sldId xmlns:r="http://schemas.openxmlformats.org/officeDocument/2006/relationships" id="271" r:id="Rac7dbf54900d4843"/>
    <p:sldId xmlns:r="http://schemas.openxmlformats.org/officeDocument/2006/relationships" id="272" r:id="R486c5620c3df4249"/>
    <p:sldId xmlns:r="http://schemas.openxmlformats.org/officeDocument/2006/relationships" id="273" r:id="R7c6222f68fb14d9b"/>
    <p:sldId xmlns:r="http://schemas.openxmlformats.org/officeDocument/2006/relationships" id="274" r:id="R0652bca16aca40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6408f094114282" /><Relationship Type="http://schemas.openxmlformats.org/officeDocument/2006/relationships/slideMaster" Target="/ppt/slideMasters/slideMaster1.xml" Id="Rd36c3c50263c473f" /><Relationship Type="http://schemas.openxmlformats.org/officeDocument/2006/relationships/notesMaster" Target="/ppt/notesMasters/notesMaster1.xml" Id="R01ec52a3cb874d97" /><Relationship Type="http://schemas.openxmlformats.org/officeDocument/2006/relationships/presProps" Target="/ppt/presProps.xml" Id="R1bb591cacb67491a" /><Relationship Type="http://schemas.openxmlformats.org/officeDocument/2006/relationships/tableStyles" Target="/ppt/tableStyles.xml" Id="R204506ad4e19468f" /><Relationship Type="http://schemas.openxmlformats.org/officeDocument/2006/relationships/slide" Target="/ppt/slides/slide1.xml" Id="R9731210d957146c9" /><Relationship Type="http://schemas.openxmlformats.org/officeDocument/2006/relationships/slide" Target="/ppt/slides/slide2.xml" Id="R71c964b00cb9433c" /><Relationship Type="http://schemas.openxmlformats.org/officeDocument/2006/relationships/slide" Target="/ppt/slides/slide3.xml" Id="Rd6be38166def4ae8" /><Relationship Type="http://schemas.openxmlformats.org/officeDocument/2006/relationships/slide" Target="/ppt/slides/slide4.xml" Id="Rae74dc38f7f3401e" /><Relationship Type="http://schemas.openxmlformats.org/officeDocument/2006/relationships/slide" Target="/ppt/slides/slide5.xml" Id="Rdcefd8aaaa714c16" /><Relationship Type="http://schemas.openxmlformats.org/officeDocument/2006/relationships/slide" Target="/ppt/slides/slide6.xml" Id="R841fc78b18734e68" /><Relationship Type="http://schemas.openxmlformats.org/officeDocument/2006/relationships/slide" Target="/ppt/slides/slide7.xml" Id="Rb3b5870c1ce143ec" /><Relationship Type="http://schemas.openxmlformats.org/officeDocument/2006/relationships/slide" Target="/ppt/slides/slide8.xml" Id="R9c31efd3c7ec4579" /><Relationship Type="http://schemas.openxmlformats.org/officeDocument/2006/relationships/slide" Target="/ppt/slides/slide9.xml" Id="Ra821ce80b95744bf" /><Relationship Type="http://schemas.openxmlformats.org/officeDocument/2006/relationships/slide" Target="/ppt/slides/slide10.xml" Id="Ra678cba823d04cc3" /><Relationship Type="http://schemas.openxmlformats.org/officeDocument/2006/relationships/slide" Target="/ppt/slides/slide11.xml" Id="Rbd79d45e990e4ae8" /><Relationship Type="http://schemas.openxmlformats.org/officeDocument/2006/relationships/slide" Target="/ppt/slides/slide12.xml" Id="R46907eba6d5d4af4" /><Relationship Type="http://schemas.openxmlformats.org/officeDocument/2006/relationships/slide" Target="/ppt/slides/slide13.xml" Id="Rbb721e7364e34732" /><Relationship Type="http://schemas.openxmlformats.org/officeDocument/2006/relationships/slide" Target="/ppt/slides/slide14.xml" Id="Raa04abaaa8d34fcd" /><Relationship Type="http://schemas.openxmlformats.org/officeDocument/2006/relationships/slide" Target="/ppt/slides/slide15.xml" Id="R7527b2f10b6142f0" /><Relationship Type="http://schemas.openxmlformats.org/officeDocument/2006/relationships/slide" Target="/ppt/slides/slide16.xml" Id="Rac7dbf54900d4843" /><Relationship Type="http://schemas.openxmlformats.org/officeDocument/2006/relationships/slide" Target="/ppt/slides/slide17.xml" Id="R486c5620c3df4249" /><Relationship Type="http://schemas.openxmlformats.org/officeDocument/2006/relationships/slide" Target="/ppt/slides/slide18.xml" Id="R7c6222f68fb14d9b" /><Relationship Type="http://schemas.openxmlformats.org/officeDocument/2006/relationships/slide" Target="/ppt/slides/slide19.xml" Id="R0652bca16aca40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d7ebfa440643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e1ccdea1074267" /><Relationship Type="http://schemas.openxmlformats.org/officeDocument/2006/relationships/notesMaster" Target="/ppt/notesMasters/notesMaster1.xml" Id="Ra0c77d1172bc46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1a30ca5aca46ec" /><Relationship Type="http://schemas.openxmlformats.org/officeDocument/2006/relationships/notesMaster" Target="/ppt/notesMasters/notesMaster1.xml" Id="R50237002daa445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c5f1c3f7894cbd" /><Relationship Type="http://schemas.openxmlformats.org/officeDocument/2006/relationships/notesMaster" Target="/ppt/notesMasters/notesMaster1.xml" Id="R7718959d2e9d4d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2dce78119942df" /><Relationship Type="http://schemas.openxmlformats.org/officeDocument/2006/relationships/notesMaster" Target="/ppt/notesMasters/notesMaster1.xml" Id="R94ad3ff7f2a440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5d4a0f721e41b3" /><Relationship Type="http://schemas.openxmlformats.org/officeDocument/2006/relationships/notesMaster" Target="/ppt/notesMasters/notesMaster1.xml" Id="Rb2af29f2363040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13baefdc5e4e76" /><Relationship Type="http://schemas.openxmlformats.org/officeDocument/2006/relationships/notesMaster" Target="/ppt/notesMasters/notesMaster1.xml" Id="Rba38276a2dca4e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41022c71ba42b2" /><Relationship Type="http://schemas.openxmlformats.org/officeDocument/2006/relationships/notesMaster" Target="/ppt/notesMasters/notesMaster1.xml" Id="Re99d83f9790d4a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61ab2610cf4787" /><Relationship Type="http://schemas.openxmlformats.org/officeDocument/2006/relationships/notesMaster" Target="/ppt/notesMasters/notesMaster1.xml" Id="Rd8b2323fd4b247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b8b3a4cba04483" /><Relationship Type="http://schemas.openxmlformats.org/officeDocument/2006/relationships/notesMaster" Target="/ppt/notesMasters/notesMaster1.xml" Id="R462bb14b883f46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7494c91e564692" /><Relationship Type="http://schemas.openxmlformats.org/officeDocument/2006/relationships/notesMaster" Target="/ppt/notesMasters/notesMaster1.xml" Id="R32533788b92c45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fe209c55f04abf" /><Relationship Type="http://schemas.openxmlformats.org/officeDocument/2006/relationships/notesMaster" Target="/ppt/notesMasters/notesMaster1.xml" Id="R0b4b4e76da5847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801c2cf78848cb" /><Relationship Type="http://schemas.openxmlformats.org/officeDocument/2006/relationships/notesMaster" Target="/ppt/notesMasters/notesMaster1.xml" Id="R24700c4d4b554d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25cb5035324889" /><Relationship Type="http://schemas.openxmlformats.org/officeDocument/2006/relationships/notesMaster" Target="/ppt/notesMasters/notesMaster1.xml" Id="R67f6030e6f3b49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687d1f8a844c87" /><Relationship Type="http://schemas.openxmlformats.org/officeDocument/2006/relationships/notesMaster" Target="/ppt/notesMasters/notesMaster1.xml" Id="R99c752c24d314b8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13436fe99e4ae9" /><Relationship Type="http://schemas.openxmlformats.org/officeDocument/2006/relationships/notesMaster" Target="/ppt/notesMasters/notesMaster1.xml" Id="Rbe1e3c802da24b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99b388fa5941d5" /><Relationship Type="http://schemas.openxmlformats.org/officeDocument/2006/relationships/notesMaster" Target="/ppt/notesMasters/notesMaster1.xml" Id="R1e076a15a66445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66c867be44452a" /><Relationship Type="http://schemas.openxmlformats.org/officeDocument/2006/relationships/notesMaster" Target="/ppt/notesMasters/notesMaster1.xml" Id="Rd36a4e9d1c5f41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ccac08d69fe4faa" /><Relationship Type="http://schemas.openxmlformats.org/officeDocument/2006/relationships/notesMaster" Target="/ppt/notesMasters/notesMaster1.xml" Id="R07447c3c12004f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bb34abe2dd74f1b" /><Relationship Type="http://schemas.openxmlformats.org/officeDocument/2006/relationships/notesMaster" Target="/ppt/notesMasters/notesMaster1.xml" Id="Rfecf7131003740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Active code equations: LV_Type_scaled.py lines 356–372 and 431–439. Ascent mass flow uses the vacuum reference Isp, not the diagnostic Isp_calc output. Upper-stage Isp varies from 339.3 s at minimum throttle to 348 s at full throttle. g0 is computed as mu / R0^2.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\begin{aligned}T_1 &amp;= f_T\left[T_{1,\mathrm{vac}}-(T_{1,\mathrm{vac}}-T_{1,\mathrm{SL}})\frac{p_a}{p_0}\right]\\[9pt]\dot m_1&amp;=-\frac{f_TT_{1,\mathrm{vac}}}{g_0I_{sp,1,\mathrm{vac}}}\\[9pt]\dot m_2&amp;=-\frac{\|\bm F\|}{g_0I_{sp,2}(f_T)}\\[9pt]I_{sp,2}(f_T)&amp;=348\left[0.975+0.025\frac{f_T-0.638}{1-0.638}\right]\ \mathrm{s}\end{aligned}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initializes second stage and recovery branch at separation and applies fairing mass jump. m2,wet includes attached fairing.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\begin{aligned}m&amp;=m_{\mathrm{inert}}+m_{p,\mathrm{remaining}}+m_{\mathrm{carried}}\\[9pt]\dot m&amp;=-\dot m_p^{\mathrm{used}}\\[9pt]m_{2,0}&amp;=m_{2,\mathrm{wet}}+m_{\mathrm{PL}}\\[9pt]m_{B,0}&amp;=m_{1,f}-m_{2,0}\\[9pt]m^+&amp;=m^--m_{\mathrm{fairing}}\end{aligned}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Active code uses constant CD0=0.5, Cda2=3.0 and CLa=0.5 rather than a Mach-dependent drag fit. Return uses CD0=1.6. LV_Type_scaled.py lines 79–96, 150, 356–357, 554–558. Positive lift convention is normal to velocity, en=[-sin gamma,cos gamma].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\begin{aligned}q&amp;=\tfrac12\rho(h)V^2\\[9pt]L&amp;=qS(0.5)\alpha\\[9pt]D&amp;=qS\left[0.5+3.0\alpha^2\right]\\[9pt]D_B&amp;=qS(1.6)\\[9pt]|q\alpha|&amp;\leq5\ \mathrm{kPa\,rad}\end{aligned}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\gamma=\operatorname{atan2}(v_z,v_x),\quad \bm e_v=[\cos\gamma,\sin\gamma]^{\mathsf T},\quad \bm e_n=[-\sin\gamma,\cos\gamma]^{\mathsf T}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Atmosphere_Type.py lines 32–84 supplies tabulated altitude values from 0 to 1000 km. Density and pressure use log-linear interpolation, sound speed uses linear interpolation.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\begin{aligned}h&amp;=\|\bm r\|-R_E\\[9pt]\rho&amp;=\rho(h)\\[9pt]p_a&amp;=p_a(h)\\[9pt]a&amp;=a(h)\end{aligned}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Sections 4.1 and 4.4. z is up at the surface-origin local frame. Vector gravity avoids inconsistent signs in printed component expressions.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\begin{aligned}\bm g(\bm r)&amp;=-\mu\frac{\bm r}{\|\bm r\|^3}\\[9pt]\bm r_L&amp;=\begin{bmatrix}x &amp; R_E+z\end{bmatrix}^{\mathsf T}\\[9pt]\bm g_L&amp;=-\mu\frac{\bm r_L}{\|\bm r_L\|^3}\\[9pt]\mu&amp;=g_0R_E^2\end{aligned}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LV_Type_scaled.py lines 94–96 and 581–582. Heat-flux units are W/m² as used by VehicleDefinitions.py, despite the older Pa comment on the field. Code samples return constraints during post-entry descent and landing, not continuously throughout all recovery segments.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\begin{aligned}\dot q_c&amp;=\kappa\sqrt{\rho}\,V^3\\[9pt]\dot q_c&amp;\leq\dot q_{B,\max}\\[9pt]q&amp;\leq q_{B,\max}\\[9pt]\dot q_{B,\max}&amp;=110\ \mathrm{kW/m^2}\\[9pt]q_{B,\max}&amp;=75\ \mathrm{kPa}\end{aligned}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eT=[cos(gamma+alpha),sin(gamma+alpha)], ev=[cos gamma,sin gamma], en=[-sin gamma,cos gamma]. gamma=atan2(vz,vx). Nominal limits from current GitHub VLType defaults. The payload acceleration field is exactly 3.75*9.81=36.7875 m/s², while dynamics g0=mu/R0²=9.7982854791873 m/s². Maximum alpha=0.1745 rad (9.9981°). a_load is the specific-force/load metric used in the implementation, not net inertial acceleration. The conventional positive-normal lift resolves a printed lift-sign inconsistency. The optimizer input order is throttle then angle. The lower mass limit and coupled recovery branch preserve booster dry mass.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\bm x_L=\begin{bmatrix}x&amp;z&amp;v_x&amp;v_z&amp;m\end{bmatrix}^{\mathsf 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\bm u_1=\begin{bmatrix}f_T&amp;\alpha\end{bmatrix}^{\mathsf 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\bm e_T=[\cos(\gamma+\alpha),\sin(\gamma+\alpha)]^{\mathsf 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\begin{aligned}\dot{\bm r}_L&amp;=\bm v_L\\[4pt]\dot{\bm v}_L&amp;=\frac{T\bm e_T-D\bm e_v+L\bm e_n}{m}+\bm g_L\\[4pt]\dot m&amp;=-\frac{f_TT_{1,\mathrm{vac}}}{g_0I_{sp,1,\mathrm{vac}}}\end{aligned}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\begin{aligned}q&amp;\leq30\ \mathrm{kPa}\\[2pt]|q\alpha|&amp;\leq5\ \mathrm{kPa\,rad}\\[2pt]a_{\mathrm{load}}&amp;\leq36.7875\ \mathrm{m/s^2},\quad |\alpha|\leq0.1745\ \mathrm{rad}\\[2pt]0.57&amp;\leq f_T\leq1\\[2pt]q(t_{\mathrm{sep}})&amp;\leq0.5\ \mathrm{kPa}\end{aligned}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Phase 2. The paper describes a dynamic-pressure release condition, while this supplied implementation constrains altitude. Nominal configuration 1 uses hfair=85 km, fairing mass=1900 kg and post-separation coast=10 s. Numerical propulsion input T2,vac=981 kN and Isp2=348 s appear in the paper but are not required to define this phase.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\bm x_E=\begin{bmatrix}r_x&amp;r_y&amp;r_z&amp;v_x&amp;v_y&amp;v_z&amp;m\end{bmatrix}^{\mathsf 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\bm{u}_2=\begin{bmatrix}F_x&amp;F_y&amp;F_z\end{bmatrix}^{\mathsf 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\begin{aligned}\dot{\bm r}&amp;=\bm v\\[4pt]\dot{\bm v}&amp;=\frac{\bm F}{m}-\mu\frac{\bm r}{\|\bm r\|^3}\\[4pt]\dot m&amp;=-\frac{\|\bm F\|}{g_0 I_{sp,2}(f_T)}\end{aligned}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\begin{aligned}625.878\ \mathrm{kN}&amp;\leq\|\bm F\|\leq981\ \mathrm{kN}\\[2pt]h(t_{\mathrm{fair}})&amp;\geq85\ \mathrm{km}\\[2pt]\bm r^+&amp;=\bm r^-,\quad\bm v^+=\bm v^-\\[2pt]m^+&amp;=m^--m_{\mathrm{fairing}}\end{aligned}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Phase 3. Both second-stage grids optimize controls and durations. Inclination, parking apsides, and reserve bound are explicit terminal constraints. Quantities r_p and r_a are Earth-center radii.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\bm x_E=\begin{bmatrix}r_x&amp;r_y&amp;r_z&amp;v_x&amp;v_y&amp;v_z&amp;m\end{bmatrix}^{\mathsf 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\bm u_3=\bm 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\begin{aligned}\dot{\bm r}&amp;=\bm v\\[4pt]\dot{\bm v}&amp;=\frac{\bm F}{m}-\mu\frac{\bm r}{\|\bm r\|^3}\\[4pt]\dot m&amp;=-\frac{\|\bm F\|}{g_0 I_{sp,2}(f_T)}\end{aligned}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\begin{aligned}625.878\ \mathrm{kN}&amp;\leq\|\bm F\|\leq981\ \mathrm{kN}\\[2pt]a_{\mathrm{load}}&amp;\leq36.7875\ \mathrm{m/s^2}\\[2pt]r_{a,\mathrm{park}}&amp;=r_{p,\mathrm{target}}\\[2pt]r_{p,\mathrm{park}}&amp;\geq R_E+150\ \mathrm{km}\\[2pt]i_{\mathrm{park}}&amp;=i_{\mathrm{target}}\\[2pt]m_{\mathrm{pre}}&amp;\geq m_{2,\mathrm{dry}}+m_{\mathrm{PL}}+\Delta m\end{aligned}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explanatory coast is the physical interpretation of the reserve calculation. No thermal propellant loss or settling/start-up reserve is included in the supplied maneuver model. The apogee radius condition distinguishes apogee from perigee, since radial speed is zero at either apsis.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\bm x_E=\begin{bmatrix}r_x&amp;r_y&amp;r_z&amp;v_x&amp;v_y&amp;v_z&amp;m\end{bmatrix}^{\mathsf 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\bm u_{\mathrm{coast}}=\bm F=\bm0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\begin{aligned}\dot{\bm r}&amp;=\bm v\\[4pt]\dot{\bm v}&amp;=-\mu\frac{\bm r}{\|\bm r\|^3}\\[4pt]\dot m&amp;=0\end{aligned}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\begin{aligned}\|\bm r(t_{\mathrm{SES2}})\|&amp;=r_{a,\mathrm{park}}\\[2pt]\bm r^{\mathsf T}\bm v&amp;=0\quad\text{at apogee}\\[2pt]r_{a,\mathrm{park}}&amp;=r_{p,\mathrm{target}}\\[2pt]m_{\mathrm{pre}}&amp;\geq m_{2,\mathrm{dry}}+m_{\mathrm{PL}}+\Delta m\end{aligned}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propellant_mass_for_final_dv uses vis-viva at parking apogee and the rocket equation. The impulse magnitude is determined by the two orbits, not an additional independent optimized control. Direction is tangential; target inclination is already achieved. A finite burn would instead use the upper-stage ECI equations with thrust and throttle limits. Startup and boil-off are not modeled.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\bm x_E=\begin{bmatrix}r_x&amp;r_y&amp;r_z&amp;v_x&amp;v_y&amp;v_z&amp;m\end{bmatrix}^{\mathsf 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\bm u_{\mathrm{SES2}}=\Delta\bm v=\Delta v\,\hat{\bm 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\begin{aligned}r_b&amp;=r_{a,\mathrm{park}}=r_{p,\mathrm{target}}\\[4pt]v(r_b,a)&amp;=\sqrt{\mu\left(\frac{2}{r_b}-\frac1a\right)}\\[4pt]\Delta v&amp;=v(r_b,a_{\mathrm{target}})-v(r_b,a_{\mathrm{park}})\\[4pt]\Delta m&amp;=m_{\mathrm{pre}}\left(1-e^{-\frac{|\Delta v|}{g_0I_{sp,2}}}\right)\end{aligned}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\begin{aligned}\bm r^+&amp;=\bm r^-\\[2pt]\bm v^+&amp;=\bm v^-+\Delta v\hat{\bm t}\\[2pt]m^+&amp;=m_{\mathrm{pre}}-\Delta m\\[2pt]r_p^+&amp;=r_{p,\mathrm{target}},\ r_a^+=r_{a,\mathrm{target}}\\[2pt]i^+&amp;=i_{\mathrm{target}}\\[2pt]m^+&amp;\geq m_{2,\mathrm{dry}}+m_{\mathrm{PL}}\end{aligned}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uses one thrust vector held over the boostback segment and integrates with substeps. No standalone boostback endpoint is prescribed: its exit state couples to the coast and landing boundaries. Final dry-mass condition is enforced at landing, rather than an explicit boostback path constraint; monotonic consumption makes it an implied lower bound earlier.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\bm x_L=\begin{bmatrix}x&amp;z&amp;v_x&amp;v_z&amp;m\end{bmatrix}^{\mathsf 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\bm u_{\mathrm{BB}}=\bm F_B=\begin{bmatrix}F_x&amp;F_z\end{bmatrix}^{\mathsf 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\begin{aligned}\dot{\bm r}_L&amp;=\bm v_L\\[4pt]\dot{\bm v}_L&amp;=\frac{\bm F_B}{m}+\bm g_L\\[4pt]\dot m&amp;=-\frac{\|\bm F_B\|}{g_0I_{sp,1,\mathrm{vac}}}\end{aligned}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\begin{aligned}\|\bm F_B\|&amp;\leq2.742\ \mathrm{MN}\\[2pt]\Delta t_{\mathrm{BB}}&amp;\geq1\ \mathrm{s}\\[2pt]m_{B,f}&amp;\geq m_{B,\mathrm{dry}}\\[2pt]x_{\mathrm{land}}&amp;=x_{\mathrm{launch}}\quad\text{(later boundary)}\end{aligned}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propagates a ballistic segment for an optimized duration &gt;=75 s, then constrains its terminal altitude &gt;=70 km. Dynamic-pressure and heat limits are not sampled explicitly during this pre-entry coast.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\bm x_L=\begin{bmatrix}x&amp;z&amp;v_x&amp;v_z&amp;m\end{bmatrix}^{\mathsf 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\bm u_{\mathrm{ballistic}}=\bm0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\begin{aligned}\dot{\bm r}_L&amp;=\bm v_L\\[4pt]\dot{\bm v}_L&amp;=-\frac{D}{m}\bm e_v+\bm g_L\\[4pt]\dot m&amp;=0\\[4pt]D&amp;=\tfrac12\rho V^2S C_{D,B}\end{aligned}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\begin{aligned}\Delta t_{\mathrm{coast}}&amp;\geq75\ \mathrm{s}\\[2pt]h(t_{\mathrm{entry}})&amp;\geq70\ \mathrm{km}\\[2pt]m&amp;=\mathrm{constant}\end{aligned}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entry throttle bound is normalized by the configured recovery thrust scale, not full nine-engine ascent capacity. q and heat inequalities constrain the subsequent trajectory; this supplied code does not sample these loads within the entry-burn segment. T_B,ref=FirstStage_SL_Thrust/3=2.535 MN. Active return mass-flow uses Isp=282 s without atmospheric or throttle correction.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\bm x_L=\begin{bmatrix}x&amp;z&amp;v_x&amp;v_z&amp;m\end{bmatrix}^{\mathsf 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\bm u_{\mathrm{entry}}=f_T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\begin{aligned}\dot{\bm r}_L&amp;=\bm v_L\\[4pt]\dot{\bm v}_L&amp;=-\frac{T+D}{m}\bm e_v+\bm g_L\\[4pt]\dot m&amp;=-\frac{f_T T_{B,\mathrm{ref}}}{g_0(282\ \mathrm{s})}\end{aligned}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\begin{aligned}0.57&amp;\leq f_T\leq0.8\\[2pt]\Delta t_{\mathrm{entry}}&amp;\geq0.1\ \mathrm{s}\\[2pt]q&amp;\leq75\ \mathrm{kPa}\quad\text{(next descent)}\\[2pt]\dot q_c&amp;\leq110\ \mathrm{kW/m^2}\quad\text{(next descent)}\end{aligned}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checks q and heat at 20 intermediate samples during post-entry coast before landing. This is discrete checking, not a continuous path guarantee. No horizontal lift control is present.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\bm x_L=\begin{bmatrix}x&amp;z&amp;v_x&amp;v_z&amp;m\end{bmatrix}^{\mathsf 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\bm u_{\mathrm{descent}}=\bm0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\begin{aligned}\dot{\bm r}_L&amp;=\bm v_L\\[4pt]\dot{\bm v}_L&amp;=-\frac{D}{m}\bm e_v+\bm g_L\\[4pt]\dot m&amp;=0\end{aligned}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\begin{aligned}q&amp;\leq75\ \mathrm{kPa}\\[2pt]\dot q_c&amp;\leq110\ \mathrm{kW/m^2}\\[2pt]\Delta t_{\mathrm{descent}}&amp;\geq0.1\ \mathrm{s}\end{aligned}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caps landing throttle at one third of recovery reference, rather than one third of full ascent thrust. Its lower bound is exactly 0.75*(1/3)*25600*g0/2535000=0.02473728878374703. This is the current optimizer formula. T_B,ref=2.535 MN and g0=9.7982854791873 m/s². The displayed rounded minimum is approximately 62.709 kN. Landing duration timestep &gt;=0.1 s. Return load bounds are sampled at landing nodes. RTLS constrains local launch altitude; ASDS constrains geometric zero altitude. The 10 m/s bound is a simplified energy-feasibility endpoint, not an operational touchdown specification.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\bm x_L=\begin{bmatrix}x&amp;z&amp;v_x&amp;v_z&amp;m\end{bmatrix}^{\mathsf T}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\bm u_{\mathrm{land}}(t)=f_T(t)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\begin{aligned}\dot{\bm r}_L&amp;=\bm v_L\\[4pt]\dot{\bm v}_L&amp;=-\frac{T+D}{m}\bm e_v+\bm g_L\\[4pt]\dot m&amp;=-\frac{f_T T_{B,\mathrm{ref}}}{g_0(282\ \mathrm{s})}\end{aligned}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\begin{aligned}0.0247373&amp;\lesssim f_T\leq\tfrac13\\[2pt]q&amp;\leq75\ \mathrm{kPa}\\[2pt]\dot q_c&amp;\leq110\ \mathrm{kW/m^2}\\[2pt]\|\bm v_f\|&amp;\leq10\ \mathrm{m/s}\\[2pt]m_f&amp;\geq m_{B,\mathrm{dry}},\quad h_f=h_{\mathrm{land}}\\[2pt]x_f&amp;=x_{\mathrm{launch}}\quad\text{(RTLS)}\end{aligned}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two branches evolve in parallel after separation. A gate is an admissibility condition, not necessarily an automatic state-triggered event. All phase durations are optimized except the 5 s initial rise and prescribed short coast after stage separation. Entry gate h&gt;=70 km occurs after a coast &gt;=75 s. Nominal fairing gate h&gt;=85 km and fairing mass=1.9 t. SES1 follows a 10 s coast. Separation gate q&lt;=0.5 kPa. SES2 is modeled analytically.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 source:</a:t>
            </a:r>
          </a:p>
          <a:p xmlns:a="http://schemas.openxmlformats.org/drawingml/2006/main">
            <a:r>
              <a:t>t_0=5\ \mathrm{s}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q\leq30\ \mathrm{kPa},\quad |q\alpha|\leq5\ \mathrm{kPa\,rad}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q_{\mathrm{sep}}\leq0.5\ \mathrm{kPa};\ \text{split upper stage / booster}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\begin{aligned}h\geq85\ \mathrm{km}\\[2pt]m^+=m^--m_{\mathrm{fairing}}\end{aligned}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\begin{aligned}r_{a,\mathrm{park}}=r_{p,\mathrm{target}}\\[2pt]h_{p,\mathrm{park}}\geq150\ \mathrm{km}\\[2pt]i=i_{\mathrm{target}},\ m\geq m_{\mathrm{reserve}}\end{aligned}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\begin{aligned}r=r_{a,\mathrm{park}},\ \dot r=0\\[2pt]\bm F=\bm0\end{aligned}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\begin{aligned}r_p=r_{p,\mathrm{target}}\\[2pt]r_a=r_{a,\mathrm{target}}\\[2pt]m^+\geq m_{2,\mathrm{dry}}+m_{\mathrm{PL}}\end{aligned}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\begin{aligned}\|\bm F_B\|\leq2.742\ \mathrm{MN}\\[2pt]\Delta t_{\mathrm{BB}}\geq1\ \mathrm{s}\end{aligned}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\begin{aligned}\Delta t_{\mathrm{coast}}\geq75\ \mathrm{s}\\[2pt]h_{\mathrm{entry}}\geq70\ \mathrm{km}\end{aligned}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\begin{aligned}q\leq75\ \mathrm{kPa}\\[2pt]\dot q_c\leq110\ \mathrm{kW/m^2}\end{aligned}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\begin{aligned}h_f=h_{\mathrm{land}}\\[2pt]\|\bm v_f\|\leq10\ \mathrm{m/s}\\[2pt]m_f\geq m_{B,\mathrm{dry}}\end{aligned}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 of the current optimization architecture. No historical payload result is asserted as a result of this commit. Source: https://github.com/pukmark/LaunchVehicleOptimization/tree/5295f20211b50467d81eac8f47408673b93e9190 . Current default-branch HEAD retrieved October 8, 2026, commit 5295f20 (gui update). Nominal Falcon 9, configuration 1, with unit dispersion factors and zero offsets. Parameter values: LV_Type_scaled.py lines 54–123 and derived initialization 144–151. Phase constraints: LV_Optimization_Type.py lines 125–324. Atmosphere: Atmosphere_Type.py. Values are optimizer inputs. Payload and target orbit remain mission-dependent.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68f10753443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00c40148b4a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444a53e45f46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f9a4acc4e43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3cf82765148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632c1da12c47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12E5B9-6553-4A79-A03E-5157182808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67F9C3-AB6C-4CC8-A04F-0087F76CA41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C78E7C-0596-4657-B9EE-01DC75FCE3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B7C43E-229B-4E8E-8236-2E9516DC80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167C75-B1DF-416C-A53F-990A0EF7E6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D2FF08-4489-4E79-95CC-4300ADFDB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67B7A9-D30B-4DA8-A1EB-5C6CAFD972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FBC74E-DA6D-4A05-8D3C-D51E841AA1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DCD9CD-5949-48AB-B898-A5E5510B74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6D4583-FED7-47E0-A950-390A06E2DF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2745658fee4b20" /><Relationship Type="http://schemas.openxmlformats.org/officeDocument/2006/relationships/slideLayout" Target="/ppt/slideLayouts/slideLayout1.xml" Id="R50bfffb358e74bf1" /><Relationship Type="http://schemas.openxmlformats.org/officeDocument/2006/relationships/slideLayout" Target="/ppt/slideLayouts/slideLayout2.xml" Id="Rb6bbae94cf504cb4" /><Relationship Type="http://schemas.openxmlformats.org/officeDocument/2006/relationships/slideLayout" Target="/ppt/slideLayouts/slideLayout3.xml" Id="R4bf72be1b6e74156" /><Relationship Type="http://schemas.openxmlformats.org/officeDocument/2006/relationships/slideLayout" Target="/ppt/slideLayouts/slideLayout4.xml" Id="R5c81c63f395e43d1" /><Relationship Type="http://schemas.openxmlformats.org/officeDocument/2006/relationships/slideLayout" Target="/ppt/slideLayouts/slideLayout5.xml" Id="Rf06168ab59e5431a" /><Relationship Type="http://schemas.openxmlformats.org/officeDocument/2006/relationships/slideLayout" Target="/ppt/slideLayouts/slideLayout6.xml" Id="R87bd7188c3254b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bfffb358e74bf1"/>
    <p:sldLayoutId xmlns:r="http://schemas.openxmlformats.org/officeDocument/2006/relationships" id="2147483650" r:id="Rb6bbae94cf504cb4"/>
    <p:sldLayoutId xmlns:r="http://schemas.openxmlformats.org/officeDocument/2006/relationships" id="2147483651" r:id="R4bf72be1b6e74156"/>
    <p:sldLayoutId xmlns:r="http://schemas.openxmlformats.org/officeDocument/2006/relationships" id="2147483652" r:id="R5c81c63f395e43d1"/>
    <p:sldLayoutId xmlns:r="http://schemas.openxmlformats.org/officeDocument/2006/relationships" id="2147483653" r:id="Rf06168ab59e5431a"/>
    <p:sldLayoutId xmlns:r="http://schemas.openxmlformats.org/officeDocument/2006/relationships" id="2147483654" r:id="R87bd7188c3254b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b022a323bc48c7" /><Relationship Type="http://schemas.openxmlformats.org/officeDocument/2006/relationships/notesSlide" Target="/ppt/notesSlides/notesSlide1.xml" Id="R5f2ab0f3f0df4c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7753787b5404d" /><Relationship Type="http://schemas.openxmlformats.org/officeDocument/2006/relationships/image" Target="/ppt/media/image.png" Id="R1c8daa7a12534ef8" /><Relationship Type="http://schemas.openxmlformats.org/officeDocument/2006/relationships/notesSlide" Target="/ppt/notesSlides/notesSlide2.xml" Id="Rd5d9a791c41c47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effe3e8496435b" /><Relationship Type="http://schemas.openxmlformats.org/officeDocument/2006/relationships/image" Target="/ppt/media/image2.png" Id="R13fd60bf31574dc1" /><Relationship Type="http://schemas.openxmlformats.org/officeDocument/2006/relationships/notesSlide" Target="/ppt/notesSlides/notesSlide3.xml" Id="Rbbbaa3b8f6df48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b9614a39f4a1c" /><Relationship Type="http://schemas.openxmlformats.org/officeDocument/2006/relationships/image" Target="/ppt/media/image3.png" Id="R51a906b735604fac" /><Relationship Type="http://schemas.openxmlformats.org/officeDocument/2006/relationships/image" Target="/ppt/media/image4.png" Id="R78171da0f34a43ee" /><Relationship Type="http://schemas.openxmlformats.org/officeDocument/2006/relationships/notesSlide" Target="/ppt/notesSlides/notesSlide4.xml" Id="Ra2d7c83d67294e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5c2cc5e906497c" /><Relationship Type="http://schemas.openxmlformats.org/officeDocument/2006/relationships/image" Target="/ppt/media/image5.png" Id="R5285c7c7e7774def" /><Relationship Type="http://schemas.openxmlformats.org/officeDocument/2006/relationships/notesSlide" Target="/ppt/notesSlides/notesSlide5.xml" Id="R0d6571a2aa7041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a9746e253e454f" /><Relationship Type="http://schemas.openxmlformats.org/officeDocument/2006/relationships/image" Target="/ppt/media/image6.png" Id="R9cea77c6621d4c81" /><Relationship Type="http://schemas.openxmlformats.org/officeDocument/2006/relationships/notesSlide" Target="/ppt/notesSlides/notesSlide6.xml" Id="R7fd429265efc4b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a289e385ac46e7" /><Relationship Type="http://schemas.openxmlformats.org/officeDocument/2006/relationships/image" Target="/ppt/media/image7.png" Id="Rc74025e6321346d5" /><Relationship Type="http://schemas.openxmlformats.org/officeDocument/2006/relationships/notesSlide" Target="/ppt/notesSlides/notesSlide7.xml" Id="R77e8177e6f7b42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87cfdc012c48c8" /><Relationship Type="http://schemas.openxmlformats.org/officeDocument/2006/relationships/image" Target="/ppt/media/image8.png" Id="R3c205d1d8e414e05" /><Relationship Type="http://schemas.openxmlformats.org/officeDocument/2006/relationships/image" Target="/ppt/media/image9.png" Id="R88963085856c462c" /><Relationship Type="http://schemas.openxmlformats.org/officeDocument/2006/relationships/image" Target="/ppt/media/image10.png" Id="R8cf77b65bed24aa3" /><Relationship Type="http://schemas.openxmlformats.org/officeDocument/2006/relationships/image" Target="/ppt/media/image11.png" Id="R7be38f59a9b24abe" /><Relationship Type="http://schemas.openxmlformats.org/officeDocument/2006/relationships/image" Target="/ppt/media/image12.png" Id="R74c08f7149534818" /><Relationship Type="http://schemas.openxmlformats.org/officeDocument/2006/relationships/notesSlide" Target="/ppt/notesSlides/notesSlide8.xml" Id="R45171e32908546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4f50a74a794c34" /><Relationship Type="http://schemas.openxmlformats.org/officeDocument/2006/relationships/image" Target="/ppt/media/image13.png" Id="R7363f34eb7704e8e" /><Relationship Type="http://schemas.openxmlformats.org/officeDocument/2006/relationships/image" Target="/ppt/media/image14.png" Id="R09bedceb6acb4760" /><Relationship Type="http://schemas.openxmlformats.org/officeDocument/2006/relationships/image" Target="/ppt/media/image15.png" Id="R878cd64dddc14e42" /><Relationship Type="http://schemas.openxmlformats.org/officeDocument/2006/relationships/image" Target="/ppt/media/image16.png" Id="R80d0897acce54151" /><Relationship Type="http://schemas.openxmlformats.org/officeDocument/2006/relationships/notesSlide" Target="/ppt/notesSlides/notesSlide9.xml" Id="Ra64c9538bc9142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b991bcc36f4a4e" /><Relationship Type="http://schemas.openxmlformats.org/officeDocument/2006/relationships/image" Target="/ppt/media/image17.png" Id="R1a02e0175ba14d31" /><Relationship Type="http://schemas.openxmlformats.org/officeDocument/2006/relationships/image" Target="/ppt/media/image18.png" Id="R4a90777c0a1749e4" /><Relationship Type="http://schemas.openxmlformats.org/officeDocument/2006/relationships/image" Target="/ppt/media/image19.png" Id="Re6c7eb6644d74753" /><Relationship Type="http://schemas.openxmlformats.org/officeDocument/2006/relationships/image" Target="/ppt/media/image20.png" Id="R5a30bbda9ae64ec5" /><Relationship Type="http://schemas.openxmlformats.org/officeDocument/2006/relationships/notesSlide" Target="/ppt/notesSlides/notesSlide10.xml" Id="R708bf2145ec946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4a6ef947224442" /><Relationship Type="http://schemas.openxmlformats.org/officeDocument/2006/relationships/image" Target="/ppt/media/image21.png" Id="Rb64fd073b8024bb7" /><Relationship Type="http://schemas.openxmlformats.org/officeDocument/2006/relationships/image" Target="/ppt/media/image22.png" Id="Re9473ebf6e1142ff" /><Relationship Type="http://schemas.openxmlformats.org/officeDocument/2006/relationships/image" Target="/ppt/media/image23.png" Id="R46b991973c034ba8" /><Relationship Type="http://schemas.openxmlformats.org/officeDocument/2006/relationships/image" Target="/ppt/media/image24.png" Id="Rb05a21fe4cac42ab" /><Relationship Type="http://schemas.openxmlformats.org/officeDocument/2006/relationships/notesSlide" Target="/ppt/notesSlides/notesSlide11.xml" Id="Raaf06808e17b48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8c39869e84301" /><Relationship Type="http://schemas.openxmlformats.org/officeDocument/2006/relationships/image" Target="/ppt/media/image25.png" Id="R6ff30e7dc79046d9" /><Relationship Type="http://schemas.openxmlformats.org/officeDocument/2006/relationships/image" Target="/ppt/media/image26.png" Id="R51b961aa67314d6b" /><Relationship Type="http://schemas.openxmlformats.org/officeDocument/2006/relationships/image" Target="/ppt/media/image27.png" Id="Re841c7677d2e4599" /><Relationship Type="http://schemas.openxmlformats.org/officeDocument/2006/relationships/image" Target="/ppt/media/image28.png" Id="Rcd5fb1958d97477b" /><Relationship Type="http://schemas.openxmlformats.org/officeDocument/2006/relationships/notesSlide" Target="/ppt/notesSlides/notesSlide12.xml" Id="R22ee8454415741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9b63d69abf4fcf" /><Relationship Type="http://schemas.openxmlformats.org/officeDocument/2006/relationships/image" Target="/ppt/media/image29.png" Id="Rb6adba28111549dc" /><Relationship Type="http://schemas.openxmlformats.org/officeDocument/2006/relationships/image" Target="/ppt/media/image30.png" Id="R330aa240d9e44b43" /><Relationship Type="http://schemas.openxmlformats.org/officeDocument/2006/relationships/image" Target="/ppt/media/image31.png" Id="R97cbe88491a3448b" /><Relationship Type="http://schemas.openxmlformats.org/officeDocument/2006/relationships/image" Target="/ppt/media/image32.png" Id="R0ba4cb2cecb04958" /><Relationship Type="http://schemas.openxmlformats.org/officeDocument/2006/relationships/notesSlide" Target="/ppt/notesSlides/notesSlide13.xml" Id="R596fc78850aa4f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6de17cf5c8482d" /><Relationship Type="http://schemas.openxmlformats.org/officeDocument/2006/relationships/image" Target="/ppt/media/image33.png" Id="R64214fbb18fd4643" /><Relationship Type="http://schemas.openxmlformats.org/officeDocument/2006/relationships/image" Target="/ppt/media/image34.png" Id="R7958f4dbe0144835" /><Relationship Type="http://schemas.openxmlformats.org/officeDocument/2006/relationships/image" Target="/ppt/media/image35.png" Id="R1c0e0a904c1e4ec9" /><Relationship Type="http://schemas.openxmlformats.org/officeDocument/2006/relationships/image" Target="/ppt/media/image36.png" Id="R1b000d0d9af2439a" /><Relationship Type="http://schemas.openxmlformats.org/officeDocument/2006/relationships/notesSlide" Target="/ppt/notesSlides/notesSlide14.xml" Id="Rc5ba5bb5292c495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5266189914f5f" /><Relationship Type="http://schemas.openxmlformats.org/officeDocument/2006/relationships/image" Target="/ppt/media/image37.png" Id="Ra41448cfcf8845a6" /><Relationship Type="http://schemas.openxmlformats.org/officeDocument/2006/relationships/image" Target="/ppt/media/image38.png" Id="Rf194467f9f4942f0" /><Relationship Type="http://schemas.openxmlformats.org/officeDocument/2006/relationships/image" Target="/ppt/media/image39.png" Id="R827f2f50c153463b" /><Relationship Type="http://schemas.openxmlformats.org/officeDocument/2006/relationships/image" Target="/ppt/media/image40.png" Id="R6a63432c4dca47ad" /><Relationship Type="http://schemas.openxmlformats.org/officeDocument/2006/relationships/notesSlide" Target="/ppt/notesSlides/notesSlide15.xml" Id="R6b96ccba93b643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4726522d964d8a" /><Relationship Type="http://schemas.openxmlformats.org/officeDocument/2006/relationships/image" Target="/ppt/media/image41.png" Id="Rbb78b9414fbd4e64" /><Relationship Type="http://schemas.openxmlformats.org/officeDocument/2006/relationships/image" Target="/ppt/media/image42.png" Id="Racb56538a280463e" /><Relationship Type="http://schemas.openxmlformats.org/officeDocument/2006/relationships/image" Target="/ppt/media/image43.png" Id="Rdbea7a4099184134" /><Relationship Type="http://schemas.openxmlformats.org/officeDocument/2006/relationships/image" Target="/ppt/media/image44.png" Id="Rcf9540ef7c35437b" /><Relationship Type="http://schemas.openxmlformats.org/officeDocument/2006/relationships/notesSlide" Target="/ppt/notesSlides/notesSlide16.xml" Id="R2d94836d323a4cd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0ec7a38bc34e90" /><Relationship Type="http://schemas.openxmlformats.org/officeDocument/2006/relationships/image" Target="/ppt/media/image45.png" Id="Rf73270881dc54e61" /><Relationship Type="http://schemas.openxmlformats.org/officeDocument/2006/relationships/image" Target="/ppt/media/image46.png" Id="R5de04bcb95534b0e" /><Relationship Type="http://schemas.openxmlformats.org/officeDocument/2006/relationships/image" Target="/ppt/media/image47.png" Id="Rad7f0c6a7aa04b04" /><Relationship Type="http://schemas.openxmlformats.org/officeDocument/2006/relationships/image" Target="/ppt/media/image48.png" Id="R78ca975d8bc14df1" /><Relationship Type="http://schemas.openxmlformats.org/officeDocument/2006/relationships/notesSlide" Target="/ppt/notesSlides/notesSlide17.xml" Id="R0683452399374f7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0a0c14d8b84137" /><Relationship Type="http://schemas.openxmlformats.org/officeDocument/2006/relationships/image" Target="/ppt/media/image49.png" Id="R6fa6bb7397d244be" /><Relationship Type="http://schemas.openxmlformats.org/officeDocument/2006/relationships/image" Target="/ppt/media/image50.png" Id="R98783d1ea1e74edd" /><Relationship Type="http://schemas.openxmlformats.org/officeDocument/2006/relationships/image" Target="/ppt/media/image51.png" Id="Rd1d192b171c24e21" /><Relationship Type="http://schemas.openxmlformats.org/officeDocument/2006/relationships/image" Target="/ppt/media/image52.png" Id="Rc1fda60280a24139" /><Relationship Type="http://schemas.openxmlformats.org/officeDocument/2006/relationships/image" Target="/ppt/media/image53.png" Id="R8170b5a7c524435d" /><Relationship Type="http://schemas.openxmlformats.org/officeDocument/2006/relationships/image" Target="/ppt/media/image54.png" Id="R189e8d6374d04e35" /><Relationship Type="http://schemas.openxmlformats.org/officeDocument/2006/relationships/image" Target="/ppt/media/image55.png" Id="R1a28271805644ceb" /><Relationship Type="http://schemas.openxmlformats.org/officeDocument/2006/relationships/image" Target="/ppt/media/image56.png" Id="R688a285cae3a4917" /><Relationship Type="http://schemas.openxmlformats.org/officeDocument/2006/relationships/image" Target="/ppt/media/image57.png" Id="R48a5af2b704940b1" /><Relationship Type="http://schemas.openxmlformats.org/officeDocument/2006/relationships/image" Target="/ppt/media/image58.png" Id="Rcd4b8fd687104b07" /><Relationship Type="http://schemas.openxmlformats.org/officeDocument/2006/relationships/image" Target="/ppt/media/image59.png" Id="Rf87a45310cf54a0e" /><Relationship Type="http://schemas.openxmlformats.org/officeDocument/2006/relationships/notesSlide" Target="/ppt/notesSlides/notesSlide18.xml" Id="R5218c7d4028f497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00c3ee9314429" /><Relationship Type="http://schemas.openxmlformats.org/officeDocument/2006/relationships/notesSlide" Target="/ppt/notesSlides/notesSlide19.xml" Id="R43a0aac3ab8942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38BB0-F913-4F2E-A8CC-6195C02E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Launch vehicle optimization</a:t>
            </a:r>
          </a:p>
          <a:p xmlns:a="http://schemas.openxmlformats.org/drawingml/2006/main">
            <a:pPr>
              <a:buNone/>
              <a:defRPr sz="3225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with booster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7EC56-3B92-4047-8412-1488AAE3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0BD77-F486-4DE6-9DE3-D85446BE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Falcon 9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AFEF8-423E-450D-971F-B6002AD3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98583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32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Maximum payload to a specified orbit, subject to ascent and recovery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AE78E-E0BF-4A98-B40D-913FDB7C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09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Mark Pustilnik and Francesco Borrelli</a:t>
            </a:r>
          </a:p>
          <a:p xmlns:a="http://schemas.openxmlformats.org/drawingml/2006/main">
            <a:pPr>
              <a:buNone/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MPC Lab, UC Berkeley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2BDD1-179B-46B0-BB4B-285CCACD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769970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C9724-07A1-4C63-80CE-2B24CDBA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Propulsion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EB516-FF62-4C8E-991D-D94A5913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09750"/>
            <a:ext cx="39338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Stage 1 (9 engines)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SL / vacuum thrust: 7.605 / 8.226 MN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SL / vacuum Isp: 282 / 305 s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Throttle: 0.57–1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Stage 2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Thrust: 981 kN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Isp at full thrust: 348 s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Throttle: 0.638–1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68B3F5-9CA9-4378-826B-450479AD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Stage-2 throttle is fT = ‖F‖ / 981 kN. Engine-off segments have zero thrust and mass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EFB67-3223-4F77-A4CC-30C7C354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B5EDE-EA06-4DD3-B1C1-87558F8D03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daa7a12534ef8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4782967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91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6A5D6-14F7-4C7E-ABDF-EA5C64C1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Mass and separation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10A22-D326-4683-ACCC-C3C8CC39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09750"/>
            <a:ext cx="39338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Stage 1 dry / propellant: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25.6 / 395.7 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Stage 2 dry / propellant: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4.0 / 92.670 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Fairing: 1.9 t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Total before payload: 519.870 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CC332-5220-49CE-8354-20ED89E0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Inert masses are inputs. The framework tracks mass rather than sizing structures.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E2376-82E1-4BDC-A91C-8581E65E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80E5D-F5B2-4C1D-B82D-F1F8D89AC3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fd60bf31574dc1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5010527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5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4DB07-118B-4C3B-8B3D-C5851204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Aerodynamic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680B3-50EA-4A2D-A278-4D388E6F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09750"/>
            <a:ext cx="39338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Diameter: 3.66 m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Reference area: 10.52088 m²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Ascent uses constant base drag and an α² correction.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Return drag uses CD = 1.6 and neglects lift.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DACF6-CC89-4E5B-8CBE-344BE9CB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Air-relative speed equals local speed under the no-wind assumption.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0400B-EAC6-4FCF-B5E9-E7E987AF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6A8DB-763F-40DA-92C0-EB9E131EFA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906b735604fac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3063811" cy="3333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D7A79-F9A0-4964-8A03-5B78C0636B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71da0f34a43ee"/>
          <a:stretch xmlns:a="http://schemas.openxmlformats.org/drawingml/2006/main"/>
        </p:blipFill>
        <p:spPr>
          <a:xfrm xmlns:a="http://schemas.openxmlformats.org/drawingml/2006/main">
            <a:off x="609600" y="5181600"/>
            <a:ext cx="6536531" cy="32146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670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4FDC2-38D5-4D04-B302-99B7EF6E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Atmosphere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1672F-C6B1-4757-A334-C32313EE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09750"/>
            <a:ext cx="39338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Sea-level values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Density: 1.225 kg/m³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Pressure: 101,325 Pa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Sound speed: 340.3 m/s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Density and pressure interpolate in log space. Sound speed interpolates linearly.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3FDD2-8373-42AD-A87B-ACF8E81A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The nominal model assumes no wind and a spherical Earth.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25984-EF4B-4147-8559-CC452A4A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3E6A5-D429-4CF0-826B-4C05B34BE8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85c7c7e7774def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2114621" cy="269455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179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3D562-2A35-46AF-98DA-57C6FDE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Gravity and coordinate frames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21B6A-882D-4A73-A9F9-1E9F938E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09750"/>
            <a:ext cx="39338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Earth radius: 6,378,137 m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μ = 3.986004418 × 10¹⁴ m³/s²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g₀ = μ / R² = 9.798285 m/s²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Local frame: planar ascent / return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ECI: 3D upper-stage flight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CE826-549C-4475-A172-7E5AF0ED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Local-phase Earth rotation effects are neglected. The ECI initialization includes rotation.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C2542-31DD-43F4-8CCA-2AC74644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01908-7B2D-4F7C-8015-093CABEB9F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a77c6621d4c81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2933424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729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0B93C1-9C39-4088-A5E3-5DFFB0C6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Heating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ADDFB-67AC-4628-9426-5FAC0ECC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809750"/>
            <a:ext cx="39338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Empirical coefficient κ = 2 × 10⁻⁴ in the code’s SI convention.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Return limits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Heat flux: 110 kW/m²</a:t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Dynamic pressure: 75 kPa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Entry burn reduces speed before descent.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B8536-6380-4820-963D-C1A4F92E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The heat-flux constraint does not model wall temperature or accumulated thermal load.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D5AB5-84BA-4024-8996-ADA77BB8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60A6A-1D82-491F-A253-9C8FB05064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025e6321346d5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2861356" cy="3333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813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959E9-ED62-4DD6-B9A9-0247F669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Phase 1: first-stage ascent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4DC2E-4A23-4C5E-97B4-CDD2E498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STATES (LOCAL FRAME, 5)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257BE-240B-4FA0-873D-D66D10A5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71600"/>
            <a:ext cx="462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86E52-5670-475A-A223-8E005E5E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EQUATIONS OF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89774-9EA8-46DB-B3B2-D563C63E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43175"/>
            <a:ext cx="462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CONSTRAINTS AND TRANSITIONS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06D68-A362-4B68-99AD-F46D0870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Optimize throttle, angle of attack, launch azimuth, and ascent duration.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C9B82-1EFA-4C2A-8182-7AAAE61B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Initial rise: 5 s. αmax = 0.1745 rad ≈ 10°. Payload load cap = 3.75 × 9.81 m/s².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AEDA3-AC8A-4FB4-ABC2-D8B49A66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8D5CA-3712-41AB-B125-6F24E333E0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05d1d8e414e05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3095744" cy="42241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516F6-7A5B-4637-A9CD-EE5D4166A5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63085856c462c"/>
          <a:stretch xmlns:a="http://schemas.openxmlformats.org/drawingml/2006/main"/>
        </p:blipFill>
        <p:spPr>
          <a:xfrm xmlns:a="http://schemas.openxmlformats.org/drawingml/2006/main">
            <a:off x="6953250" y="1714500"/>
            <a:ext cx="1747504" cy="42241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F0AA9-B424-432A-859E-2B0B3E0685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f77b65bed24aa3"/>
          <a:stretch xmlns:a="http://schemas.openxmlformats.org/drawingml/2006/main"/>
        </p:blipFill>
        <p:spPr>
          <a:xfrm xmlns:a="http://schemas.openxmlformats.org/drawingml/2006/main">
            <a:off x="609600" y="2190750"/>
            <a:ext cx="2520315" cy="257175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F5419-86FF-4995-92EC-6D9D31DB17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e38f59a9b24abe"/>
          <a:stretch xmlns:a="http://schemas.openxmlformats.org/drawingml/2006/main"/>
        </p:blipFill>
        <p:spPr>
          <a:xfrm xmlns:a="http://schemas.openxmlformats.org/drawingml/2006/main">
            <a:off x="609600" y="2933700"/>
            <a:ext cx="4046220" cy="2249424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D32CD-7EF1-4DCA-8C05-BEB36D1358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08f7149534818"/>
          <a:stretch xmlns:a="http://schemas.openxmlformats.org/drawingml/2006/main"/>
        </p:blipFill>
        <p:spPr>
          <a:xfrm xmlns:a="http://schemas.openxmlformats.org/drawingml/2006/main">
            <a:off x="6953250" y="2933700"/>
            <a:ext cx="4629150" cy="20679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4117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F3EB6-0342-483E-AD77-7DA09A0D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Phase 2: upper stage before fairing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F084B-32C5-4C47-8F2F-3E784039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STATES (ECI FRAME, 7)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BDDE3-1422-4227-976A-1A9CCBE4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71600"/>
            <a:ext cx="462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02E461-E473-473D-A52E-38B2E654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EQUATIONS OF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C192B-736F-45AF-BB0E-6AA146F6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43175"/>
            <a:ext cx="462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CONSTRAINTS AND TRANSITIONS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E24A2-2B35-44D7-8484-EA8AA10B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Separation sets the ECI initial state. A prescribed 10 s coast precedes SES-1.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8B8A2-A728-40C4-83E9-F7411145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The supplied code uses an altitude release gate and has no explicit acceleration bound in this segment.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257F4-E44A-435E-95BC-BDC2A4EB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3A64E-DD86-4038-A253-4492133EFF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3f34eb7704e8e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4316682" cy="42241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0CAA3-BE8E-462A-9BB4-ED936F24B1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edceb6acb4760"/>
          <a:stretch xmlns:a="http://schemas.openxmlformats.org/drawingml/2006/main"/>
        </p:blipFill>
        <p:spPr>
          <a:xfrm xmlns:a="http://schemas.openxmlformats.org/drawingml/2006/main">
            <a:off x="6953250" y="1714500"/>
            <a:ext cx="2418731" cy="42241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CB96F-4248-4601-952D-6D4C5B658E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cd64dddc14e42"/>
          <a:stretch xmlns:a="http://schemas.openxmlformats.org/drawingml/2006/main"/>
        </p:blipFill>
        <p:spPr>
          <a:xfrm xmlns:a="http://schemas.openxmlformats.org/drawingml/2006/main">
            <a:off x="609600" y="2933700"/>
            <a:ext cx="2482596" cy="2338578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270186-E7A9-4A2F-A11B-242BF177F2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0897acce54151"/>
          <a:stretch xmlns:a="http://schemas.openxmlformats.org/drawingml/2006/main"/>
        </p:blipFill>
        <p:spPr>
          <a:xfrm xmlns:a="http://schemas.openxmlformats.org/drawingml/2006/main">
            <a:off x="6953250" y="2933700"/>
            <a:ext cx="3450431" cy="17882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604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86F10-E3B9-4D11-8CAD-FF344DFF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Phase 3: upper stage to parking orbit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D4A3F-D3C3-4BA4-A666-832E4BC6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STATES (ECI FRAME, 7)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22C51-2452-4041-AC88-6ADDFDCE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71600"/>
            <a:ext cx="462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FB944-C1AB-42C0-B1D5-66236373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EQUATIONS OF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17F9E-E03F-4FA5-B146-4D308CFC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43175"/>
            <a:ext cx="462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CONSTRAINTS AND TRANSITIONS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D1DF7-27FA-408B-8C42-C2970042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Fairing jettison lowers mass. The optimizer reaches a parking orbit and preserves restart propellant.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661F5-F8DC-4CFB-8FE3-D5B13792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SES-1 ends when the parking-orbit boundary conditions and propellant reserve are feasible.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56D83-5B9E-4592-81C7-C14362F7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52FAE-9F2F-477E-ACD5-E4FC45F492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2e0175ba14d31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4316682" cy="42241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64C71-6F31-4029-A3A4-04C288F48C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0777c0a1749e4"/>
          <a:stretch xmlns:a="http://schemas.openxmlformats.org/drawingml/2006/main"/>
        </p:blipFill>
        <p:spPr>
          <a:xfrm xmlns:a="http://schemas.openxmlformats.org/drawingml/2006/main">
            <a:off x="6953250" y="1714500"/>
            <a:ext cx="902684" cy="266176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EE293-1D4A-4B34-AF9E-9F28BE13C2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7eb6644d74753"/>
          <a:stretch xmlns:a="http://schemas.openxmlformats.org/drawingml/2006/main"/>
        </p:blipFill>
        <p:spPr>
          <a:xfrm xmlns:a="http://schemas.openxmlformats.org/drawingml/2006/main">
            <a:off x="609600" y="2933700"/>
            <a:ext cx="2482596" cy="2338578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2CB61-6300-4DD2-B647-44C3100D09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0bbda9ae64ec5"/>
          <a:stretch xmlns:a="http://schemas.openxmlformats.org/drawingml/2006/main"/>
        </p:blipFill>
        <p:spPr>
          <a:xfrm xmlns:a="http://schemas.openxmlformats.org/drawingml/2006/main">
            <a:off x="6953250" y="2933700"/>
            <a:ext cx="3848722" cy="2524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833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AD392-7EBA-43C4-B836-CCF803A7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Upper-stage coast to the second ignition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202DD-C837-4751-8B3F-0C2782B4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STATES (ECI FRAME, 7)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F8F87-693C-49B5-A3B0-BBEA4EAF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71600"/>
            <a:ext cx="462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38027-65AF-413D-A72F-123E6807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EQUATIONS OF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DD544-EC9F-4AEB-B8C7-A1DE5644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43175"/>
            <a:ext cx="462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CONSTRAINTS AND TRANSITIONS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A45CC-BCCA-4940-895B-1EE74A74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The upper stage coasts to parking-orbit apogee before SES-2.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C2B04-ABBA-4307-BA9E-62C4C53B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Current code evaluates the maneuver at this apsis analytically; it does not optimize the coast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C5790-515C-4477-872F-4CF247E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4A576-A19F-405A-8C7B-B36893EC38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fd073b8024bb7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4316682" cy="42241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E4529-77EA-4EAF-976B-C069673D5E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73ebf6e1142ff"/>
          <a:stretch xmlns:a="http://schemas.openxmlformats.org/drawingml/2006/main"/>
        </p:blipFill>
        <p:spPr>
          <a:xfrm xmlns:a="http://schemas.openxmlformats.org/drawingml/2006/main">
            <a:off x="6953250" y="1714500"/>
            <a:ext cx="1747504" cy="266176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767CC-F1B2-413F-AB31-FB55FECD85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991973c034ba8"/>
          <a:stretch xmlns:a="http://schemas.openxmlformats.org/drawingml/2006/main"/>
        </p:blipFill>
        <p:spPr>
          <a:xfrm xmlns:a="http://schemas.openxmlformats.org/drawingml/2006/main">
            <a:off x="609600" y="2933700"/>
            <a:ext cx="1837944" cy="1906524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9861C-097D-41E3-B377-61220CE87F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a21fe4cac42ab"/>
          <a:stretch xmlns:a="http://schemas.openxmlformats.org/drawingml/2006/main"/>
        </p:blipFill>
        <p:spPr>
          <a:xfrm xmlns:a="http://schemas.openxmlformats.org/drawingml/2006/main">
            <a:off x="6953250" y="2933700"/>
            <a:ext cx="3978497" cy="17702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174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63E1A-8BD8-45B2-B38B-8994E65D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SES-2: parking orbit to final orbit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4B1F1-CBB1-4E38-9065-31BDAED4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STATES (ECI FRAME, 7)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15063-68CA-413C-BE64-1EF50344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71600"/>
            <a:ext cx="462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5A252-883B-4B7F-A130-FC075119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IMPULSIVE BURN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C898B-BC52-4285-8DBF-0E56C11D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43175"/>
            <a:ext cx="462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CONSTRAINTS AND TRANSITIONS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771BA-0583-4E22-92D9-BE4672E2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A tangential restart reaches the target apogee. Reserve calculation uses Isp₂ = 348 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49870-F804-4139-9C15-32DC9535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Current formulation: impulsive state jump and propellant reserve. A finite burn requires the ECI thrust dynamics.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4DA67-75F1-404A-90C0-324B864D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A70194-4482-4245-855E-B94D1FE478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30e7dc79046d9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4316682" cy="42241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7E851-6966-49E9-99D9-11E2CFDC83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b961aa67314d6b"/>
          <a:stretch xmlns:a="http://schemas.openxmlformats.org/drawingml/2006/main"/>
        </p:blipFill>
        <p:spPr>
          <a:xfrm xmlns:a="http://schemas.openxmlformats.org/drawingml/2006/main">
            <a:off x="6953250" y="1714500"/>
            <a:ext cx="2256711" cy="324041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9F206-C70A-49B8-B221-10127AC513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1c7677d2e4599"/>
          <a:stretch xmlns:a="http://schemas.openxmlformats.org/drawingml/2006/main"/>
        </p:blipFill>
        <p:spPr>
          <a:xfrm xmlns:a="http://schemas.openxmlformats.org/drawingml/2006/main">
            <a:off x="609600" y="2933700"/>
            <a:ext cx="3837978" cy="2524125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B8923-B7E2-4BFC-AB90-736FE5ACCC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fb1958d97477b"/>
          <a:stretch xmlns:a="http://schemas.openxmlformats.org/drawingml/2006/main"/>
        </p:blipFill>
        <p:spPr>
          <a:xfrm xmlns:a="http://schemas.openxmlformats.org/drawingml/2006/main">
            <a:off x="6953250" y="2933700"/>
            <a:ext cx="3082032" cy="2524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4555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DCFC5-5C4B-4AD0-9F3D-46AA27BF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Recovery: RTLS boostback burn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4C830-9283-4E3C-A963-E420A514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STATES (LOCAL FRAME, 5)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F5429-175B-4B1B-B556-8579CAAB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71600"/>
            <a:ext cx="462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03D9D-2670-419B-A28C-2C172392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EQUATIONS OF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1460F-EA4E-4E8E-8414-92D621F1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43175"/>
            <a:ext cx="462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CONSTRAINTS AND TRANSITIONS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2F4A5-DAB8-41BE-B304-A23CA0C3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Optimize a planar thrust vector and burn duration to make the RTLS landing feasible.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891BB-2D52-4296-98BA-E6FD79BB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RTLS boostback uses 3-engine vacuum thrust (2.742 MN), Isp = 305 s. ASDS starts with coast.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0DA59-9E37-4FB7-AF6B-8F24A8D7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856FE-3C34-497C-8F92-59737CC07E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dba28111549dc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3095744" cy="42241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3CD92-AE26-437C-BB08-FDDAC7EABD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aa240d9e44b43"/>
          <a:stretch xmlns:a="http://schemas.openxmlformats.org/drawingml/2006/main"/>
        </p:blipFill>
        <p:spPr>
          <a:xfrm xmlns:a="http://schemas.openxmlformats.org/drawingml/2006/main">
            <a:off x="6953250" y="1714500"/>
            <a:ext cx="2754344" cy="42241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F1C60-5F3A-42C3-9DCE-96EC29E71F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be88491a3448b"/>
          <a:stretch xmlns:a="http://schemas.openxmlformats.org/drawingml/2006/main"/>
        </p:blipFill>
        <p:spPr>
          <a:xfrm xmlns:a="http://schemas.openxmlformats.org/drawingml/2006/main">
            <a:off x="609600" y="2933700"/>
            <a:ext cx="2407158" cy="226314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EEBED-435A-4894-A9E3-00EAD94963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4cb2cecb04958"/>
          <a:stretch xmlns:a="http://schemas.openxmlformats.org/drawingml/2006/main"/>
        </p:blipFill>
        <p:spPr>
          <a:xfrm xmlns:a="http://schemas.openxmlformats.org/drawingml/2006/main">
            <a:off x="6953250" y="2933700"/>
            <a:ext cx="4014502" cy="172821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681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A792A-9263-45E8-9D5C-DF48AEE6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Recovery: ballistic coast before entry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1CE3E-5F58-4F50-B3A6-96567203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STATES (LOCAL FRAME, 5)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0E14B-6D0E-4331-8DDE-B4107FEA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71600"/>
            <a:ext cx="462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E0FEE-772C-436B-BF6A-0F0255C6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EQUATIONS OF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D1EFF-0844-4E93-8D70-C6F24C9E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43175"/>
            <a:ext cx="462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CONSTRAINTS AND TRANSITIONS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4AE0F-1FEF-4DBE-86FD-63153898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Gravity and drag evolve the booster state with the engines 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7A065-0FC9-4AF0-963B-B91D0F37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The entry start time is optimized subject to the altitude gate; it is not a fixed-altitude trigger.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830BC-B718-4CD6-96BA-4DCC1B00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56D8F-2838-43F4-B0AD-9007559A58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14fbb18fd4643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3095744" cy="42241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3961A-A834-478E-B1B5-C6BDE5719A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8f4dbe0144835"/>
          <a:stretch xmlns:a="http://schemas.openxmlformats.org/drawingml/2006/main"/>
        </p:blipFill>
        <p:spPr>
          <a:xfrm xmlns:a="http://schemas.openxmlformats.org/drawingml/2006/main">
            <a:off x="6953250" y="1714500"/>
            <a:ext cx="1429250" cy="26039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26252-8598-49B4-AC1C-8E39B8C2D0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e0a904c1e4ec9"/>
          <a:stretch xmlns:a="http://schemas.openxmlformats.org/drawingml/2006/main"/>
        </p:blipFill>
        <p:spPr>
          <a:xfrm xmlns:a="http://schemas.openxmlformats.org/drawingml/2006/main">
            <a:off x="609600" y="2933700"/>
            <a:ext cx="2462022" cy="2516886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429B21-6BDD-4C55-85B5-2F0914A6B3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00d0d9af2439a"/>
          <a:stretch xmlns:a="http://schemas.openxmlformats.org/drawingml/2006/main"/>
        </p:blipFill>
        <p:spPr>
          <a:xfrm xmlns:a="http://schemas.openxmlformats.org/drawingml/2006/main">
            <a:off x="6953250" y="2933700"/>
            <a:ext cx="2346293" cy="1278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3742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FFC82-8082-49D0-A3F8-4FCB35E4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Recovery: entry burn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99827-0801-4D3A-98BE-38651483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STATES (LOCAL FRAME, 5)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1D490-B260-469C-9ACD-812F0DD8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71600"/>
            <a:ext cx="462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3C1873-6A03-4515-81F8-9C3ECA53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EQUATIONS OF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416AC-240F-40D8-9F26-BAB1544C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43175"/>
            <a:ext cx="462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CONSTRAINTS AND TRANSITIONS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8BB73-F24A-49B2-A05D-F37E6EA9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Thrust opposes velocity. A single throttle and burn duration set the post-entry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73B9A-3285-4F47-BFD9-D5DDB7C1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Three-engine reference thrust: 2.535 MN. Entry thrust range: 1.44495–2.028 MN.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3D6DA-B9CB-4E62-B6EA-3DB16FC2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1D5B30-30CA-406E-AFB4-EED72411E0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448cfcf8845a6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3095744" cy="42241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4DA8B-AD41-48DD-841E-C0CB331A37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4467f9f4942f0"/>
          <a:stretch xmlns:a="http://schemas.openxmlformats.org/drawingml/2006/main"/>
        </p:blipFill>
        <p:spPr>
          <a:xfrm xmlns:a="http://schemas.openxmlformats.org/drawingml/2006/main">
            <a:off x="6953250" y="1714500"/>
            <a:ext cx="1336667" cy="306681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5EFE0-430B-48CB-8BB6-474E939E15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f2f50c153463b"/>
          <a:stretch xmlns:a="http://schemas.openxmlformats.org/drawingml/2006/main"/>
        </p:blipFill>
        <p:spPr>
          <a:xfrm xmlns:a="http://schemas.openxmlformats.org/drawingml/2006/main">
            <a:off x="609600" y="2933700"/>
            <a:ext cx="3010662" cy="2235708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E7000-E29B-4D21-A2DE-263F1DDA9E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3432c4dca47ad"/>
          <a:stretch xmlns:a="http://schemas.openxmlformats.org/drawingml/2006/main"/>
        </p:blipFill>
        <p:spPr>
          <a:xfrm xmlns:a="http://schemas.openxmlformats.org/drawingml/2006/main">
            <a:off x="6953250" y="2933700"/>
            <a:ext cx="4524566" cy="176422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036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C1F02-EBF8-4B62-8B43-9E183724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Recovery: atmospheric descent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02ED7-18E4-45BE-A446-A83D6BC1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STATES (LOCAL FRAME, 5)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E8F5B-9590-4DA2-A967-5499A0FD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71600"/>
            <a:ext cx="462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419FE-8121-4B9E-9FCE-A8A38364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EQUATIONS OF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A32C3-83F4-4B5B-B822-04493FB7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43175"/>
            <a:ext cx="462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CONSTRAINTS AND TRANSITIONS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F8B64-5F14-42B9-934C-08E9EAA9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After the entry burn, drag slows the booster while the optimizer selects the landing-burn start.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11C28-0933-4C25-9347-89B00BCE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Landing ignition has no fixed altitude gate in this model. Terminal landing feasibility sets its timing.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690CA-1B90-4747-8B6B-67A08439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B1992-01BB-4281-9193-F9DE008A85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8b9414fbd4e64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3095744" cy="42241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EEFA2-71DD-4025-AA97-164313934B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56538a280463e"/>
          <a:stretch xmlns:a="http://schemas.openxmlformats.org/drawingml/2006/main"/>
        </p:blipFill>
        <p:spPr>
          <a:xfrm xmlns:a="http://schemas.openxmlformats.org/drawingml/2006/main">
            <a:off x="6953250" y="1714500"/>
            <a:ext cx="1382959" cy="26039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205DE-2632-4117-9123-3E96B64025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a7a4099184134"/>
          <a:stretch xmlns:a="http://schemas.openxmlformats.org/drawingml/2006/main"/>
        </p:blipFill>
        <p:spPr>
          <a:xfrm xmlns:a="http://schemas.openxmlformats.org/drawingml/2006/main">
            <a:off x="609600" y="2933700"/>
            <a:ext cx="2427732" cy="1899666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1F857-5CE8-49C7-8E83-4EC4479972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540ef7c35437b"/>
          <a:stretch xmlns:a="http://schemas.openxmlformats.org/drawingml/2006/main"/>
        </p:blipFill>
        <p:spPr>
          <a:xfrm xmlns:a="http://schemas.openxmlformats.org/drawingml/2006/main">
            <a:off x="6953250" y="2933700"/>
            <a:ext cx="2796350" cy="13141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314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63FA5-8D98-4B55-9231-B807C4A2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Recovery: landing burn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480CB-58E2-40E6-8BF7-5A51EB17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581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STATES (LOCAL FRAME, 5)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996C4-D19A-48B1-B30A-18F037FA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71600"/>
            <a:ext cx="462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FE3265-7D7E-4F34-9775-023EAAFA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600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EQUATIONS OF MOTION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7F882-55C2-410D-BD8E-B687240B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43175"/>
            <a:ext cx="4629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CONSTRAINTS AND TRANSITIONS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4BCA0-047F-4BF0-AEAB-74A11296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3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Optimize the throttle trajectory and landing duration to reach the surface at low speed.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5677D-C708-45DB-8DAE-0A48051D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382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Recovery reference: 2.535 MN. Landing thrust: approximately 62.709–845 kN. ASDS leaves downrange free.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07220-9122-4857-93A1-54205746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08430-9C97-4632-8B44-234C453178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270881dc54e61"/>
          <a:stretch xmlns:a="http://schemas.openxmlformats.org/drawingml/2006/main"/>
        </p:blipFill>
        <p:spPr>
          <a:xfrm xmlns:a="http://schemas.openxmlformats.org/drawingml/2006/main">
            <a:off x="609600" y="1714500"/>
            <a:ext cx="3095744" cy="42241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103C7-6D61-4394-A120-597DB58AEB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04bcb95534b0e"/>
          <a:stretch xmlns:a="http://schemas.openxmlformats.org/drawingml/2006/main"/>
        </p:blipFill>
        <p:spPr>
          <a:xfrm xmlns:a="http://schemas.openxmlformats.org/drawingml/2006/main">
            <a:off x="6953250" y="1714500"/>
            <a:ext cx="1840087" cy="312468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07F51B-B1D0-4343-85A4-D04FF0134D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f0c6a7aa04b04"/>
          <a:stretch xmlns:a="http://schemas.openxmlformats.org/drawingml/2006/main"/>
        </p:blipFill>
        <p:spPr>
          <a:xfrm xmlns:a="http://schemas.openxmlformats.org/drawingml/2006/main">
            <a:off x="609600" y="2933700"/>
            <a:ext cx="3010662" cy="2235708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963CF-1FF0-4376-9321-6C7C65E875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a975d8bc14df1"/>
          <a:stretch xmlns:a="http://schemas.openxmlformats.org/drawingml/2006/main"/>
        </p:blipFill>
        <p:spPr>
          <a:xfrm xmlns:a="http://schemas.openxmlformats.org/drawingml/2006/main">
            <a:off x="6953250" y="2933700"/>
            <a:ext cx="3720957" cy="2524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451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94C0FD-1732-4BE9-A6BE-F59F74CB722A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810625" y="5253038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A87"/>
            </a:solidFill>
            <a:tailEnd type="triangle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23FEF6-D6A7-4FF5-A4EB-8919F8499A29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6038850" y="5253038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A87"/>
            </a:solidFill>
            <a:tailEnd type="triangl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29D2F1-42A6-4196-980B-7AAD67914D4A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3267075" y="5253038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A87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6CE998-6243-4B52-80C7-3E65BC9C5C9F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810625" y="3357563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A87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995957-5E3C-467C-BE43-73EADAA39A2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038850" y="3357563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A87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45DDE-0C5E-4833-9C18-AD6FF2309F5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67075" y="3357563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A87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0BE06-4C55-4710-A9F9-4B47B910C03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858000" y="17145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A87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5B29D-677C-4D96-AF17-E0A9DB30C0F7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276600" y="17145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6A87"/>
            </a:solidFill>
            <a:tailEnd type="triangle" w="med" len="me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D7E42C-C7A0-4618-9A30-85CFC843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Flight logic and transition conditions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0E8F6-8D4C-4811-971D-EB162DC4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66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8EA9B7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563DA-1F5E-4AA3-A5B3-64BC04FF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243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Initial vertical rise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12888-C236-4CF7-83C8-63446582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5255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8EA9B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745D6-3D48-440E-9BC3-026EA601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457325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Optimized ascent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6B0B0-6925-40DD-9786-0BD2AAB4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52550"/>
            <a:ext cx="436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8EA9B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49CD4-7BB5-4CF8-87E5-5B57B652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57325"/>
            <a:ext cx="413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Stage separation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7DDA1-4176-4991-BEAE-ACF32CAE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UPPER STAGE  •  after separation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A4301-E677-46B1-BCAD-8D09D956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26574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8EA9B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C6094-342A-4C8C-87A0-7EA3CCDA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SES-1: fairing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27DF1-7FF0-41AF-93C1-6AFFC092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76525"/>
            <a:ext cx="26574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8EA9B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39A4B1-6D6B-4597-AC55-C9B32BF1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8130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SES-1: parking orbit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62358-27FB-4E87-8CE9-579A889F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76525"/>
            <a:ext cx="26574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8EA9B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FAAD8-E403-48DF-AA56-33FBE80E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8130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Coast to apogee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A169E-E483-46C4-8B94-B595A847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676525"/>
            <a:ext cx="2657475" cy="1362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8EA9B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C34A6-31F0-40AD-B733-6989E984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8130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SES-2: final orbit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D0CE9-78CC-4A01-A7DE-A141F811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BOOSTER  •  RTLS uses boostback; ASDS starts with coast; EXP omits this branch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DBA95-A6DB-4729-8B5B-BA80FCA6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26574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8EA9B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9B60F-83C7-490C-A22E-0D66C8E8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RTLS boostback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8D1F54-7FA3-4F8D-94CC-4C609619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00575"/>
            <a:ext cx="26574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8EA9B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E28C71-8DDB-4D35-8040-687A61AC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7053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Coast to entry burn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04A834-EAA7-4770-ADA7-242D199E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00575"/>
            <a:ext cx="26574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8EA9B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FFFA2-D19B-46FC-9A50-2F7765BD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053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Entry + descent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F235EA-3FAD-4607-8238-CB862EF0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00575"/>
            <a:ext cx="26574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7"/>
          </a:solidFill>
          <a:ln xmlns:a="http://schemas.openxmlformats.org/drawingml/2006/main" w="9525">
            <a:solidFill>
              <a:srgbClr val="8EA9B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2D3516-F08B-4E1D-B16E-A1E73DB2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705350"/>
            <a:ext cx="242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Landing burn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59107A-DF18-44B5-8919-DA36D6FB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Nominal Falcon 9 • GitHub 5295f20 • SES-1 starts after 10 s coast • landing ignition time is optimized.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9B478C-0DFA-4E94-BAF1-A9260EF7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8FBBE0-AB39-4B6D-97E5-EE2DC9DED3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6bb7397d244be"/>
          <a:stretch xmlns:a="http://schemas.openxmlformats.org/drawingml/2006/main"/>
        </p:blipFill>
        <p:spPr>
          <a:xfrm xmlns:a="http://schemas.openxmlformats.org/drawingml/2006/main">
            <a:off x="762000" y="1714500"/>
            <a:ext cx="817817" cy="231458"/>
          </a:xfrm>
          <a:prstGeom xmlns:a="http://schemas.openxmlformats.org/drawingml/2006/main" prst="rect">
            <a:avLst/>
          </a:prstGeom>
        </p:spPr>
      </p:pic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3E6390-C744-4202-ADE6-36EFA5C9F9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83d1ea1e74edd"/>
          <a:stretch xmlns:a="http://schemas.openxmlformats.org/drawingml/2006/main"/>
        </p:blipFill>
        <p:spPr>
          <a:xfrm xmlns:a="http://schemas.openxmlformats.org/drawingml/2006/main">
            <a:off x="3733800" y="1724025"/>
            <a:ext cx="2713839" cy="243030"/>
          </a:xfrm>
          <a:prstGeom xmlns:a="http://schemas.openxmlformats.org/drawingml/2006/main" prst="rect">
            <a:avLst/>
          </a:prstGeom>
        </p:spPr>
      </p:pic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C46CD8-B26D-489E-9898-24B3F12058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192b171c24e21"/>
          <a:stretch xmlns:a="http://schemas.openxmlformats.org/drawingml/2006/main"/>
        </p:blipFill>
        <p:spPr>
          <a:xfrm xmlns:a="http://schemas.openxmlformats.org/drawingml/2006/main">
            <a:off x="7334250" y="1714500"/>
            <a:ext cx="3775972" cy="247531"/>
          </a:xfrm>
          <a:prstGeom xmlns:a="http://schemas.openxmlformats.org/drawingml/2006/main" prst="rect">
            <a:avLst/>
          </a:prstGeom>
        </p:spPr>
      </p:pic>
      <p:pic>
        <p:nvPic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51E17C-10B0-46BC-A369-5F8F8B7503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da60280a24139"/>
          <a:stretch xmlns:a="http://schemas.openxmlformats.org/drawingml/2006/main"/>
        </p:blipFill>
        <p:spPr>
          <a:xfrm xmlns:a="http://schemas.openxmlformats.org/drawingml/2006/main">
            <a:off x="762000" y="3267075"/>
            <a:ext cx="1829068" cy="647700"/>
          </a:xfrm>
          <a:prstGeom xmlns:a="http://schemas.openxmlformats.org/drawingml/2006/main" prst="rect">
            <a:avLst/>
          </a:prstGeom>
        </p:spPr>
      </p:pic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07D03A-D9F0-4015-BB8A-596A763E48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0b5a7c524435d"/>
          <a:stretch xmlns:a="http://schemas.openxmlformats.org/drawingml/2006/main"/>
        </p:blipFill>
        <p:spPr>
          <a:xfrm xmlns:a="http://schemas.openxmlformats.org/drawingml/2006/main">
            <a:off x="3533775" y="3162300"/>
            <a:ext cx="1674522" cy="752475"/>
          </a:xfrm>
          <a:prstGeom xmlns:a="http://schemas.openxmlformats.org/drawingml/2006/main" prst="rect">
            <a:avLst/>
          </a:prstGeom>
        </p:spPr>
      </p:pic>
      <p:pic>
        <p:nvPic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F414ED-5612-456F-9BE6-47F6B82B73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e8d6374d04e35"/>
          <a:stretch xmlns:a="http://schemas.openxmlformats.org/drawingml/2006/main"/>
        </p:blipFill>
        <p:spPr>
          <a:xfrm xmlns:a="http://schemas.openxmlformats.org/drawingml/2006/main">
            <a:off x="6305550" y="3267075"/>
            <a:ext cx="1633330" cy="647700"/>
          </a:xfrm>
          <a:prstGeom xmlns:a="http://schemas.openxmlformats.org/drawingml/2006/main" prst="rect">
            <a:avLst/>
          </a:prstGeom>
        </p:spPr>
      </p:pic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E69D28-6ED6-4888-8683-2AB624D628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8271805644ceb"/>
          <a:stretch xmlns:a="http://schemas.openxmlformats.org/drawingml/2006/main"/>
        </p:blipFill>
        <p:spPr>
          <a:xfrm xmlns:a="http://schemas.openxmlformats.org/drawingml/2006/main">
            <a:off x="9077325" y="3162300"/>
            <a:ext cx="1377236" cy="752475"/>
          </a:xfrm>
          <a:prstGeom xmlns:a="http://schemas.openxmlformats.org/drawingml/2006/main" prst="rect">
            <a:avLst/>
          </a:prstGeom>
        </p:spPr>
      </p:pic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7F8DE4-BDB9-4721-8958-8FEEF463E2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a285cae3a4917"/>
          <a:stretch xmlns:a="http://schemas.openxmlformats.org/drawingml/2006/main"/>
        </p:blipFill>
        <p:spPr>
          <a:xfrm xmlns:a="http://schemas.openxmlformats.org/drawingml/2006/main">
            <a:off x="762000" y="5200650"/>
            <a:ext cx="1528348" cy="581025"/>
          </a:xfrm>
          <a:prstGeom xmlns:a="http://schemas.openxmlformats.org/drawingml/2006/main" prst="rect">
            <a:avLst/>
          </a:prstGeom>
        </p:spPr>
      </p:pic>
      <p:pic>
        <p:nvPic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5F3F8C-935D-4BF3-9F9B-B20CBC6DB2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5af2b704940b1"/>
          <a:stretch xmlns:a="http://schemas.openxmlformats.org/drawingml/2006/main"/>
        </p:blipFill>
        <p:spPr>
          <a:xfrm xmlns:a="http://schemas.openxmlformats.org/drawingml/2006/main">
            <a:off x="3533775" y="5200650"/>
            <a:ext cx="1250467" cy="581025"/>
          </a:xfrm>
          <a:prstGeom xmlns:a="http://schemas.openxmlformats.org/drawingml/2006/main" prst="rect">
            <a:avLst/>
          </a:prstGeom>
        </p:spPr>
      </p:pic>
      <p:pic>
        <p:nvPic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C6FC92-3717-4432-8316-BAD229357F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b8fd687104b07"/>
          <a:stretch xmlns:a="http://schemas.openxmlformats.org/drawingml/2006/main"/>
        </p:blipFill>
        <p:spPr>
          <a:xfrm xmlns:a="http://schemas.openxmlformats.org/drawingml/2006/main">
            <a:off x="6305550" y="5200650"/>
            <a:ext cx="1365206" cy="581025"/>
          </a:xfrm>
          <a:prstGeom xmlns:a="http://schemas.openxmlformats.org/drawingml/2006/main" prst="rect">
            <a:avLst/>
          </a:prstGeom>
        </p:spPr>
      </p:pic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E362AB-3C49-4EAE-A85E-AEEFE1C438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a45310cf54a0e"/>
          <a:stretch xmlns:a="http://schemas.openxmlformats.org/drawingml/2006/main"/>
        </p:blipFill>
        <p:spPr>
          <a:xfrm xmlns:a="http://schemas.openxmlformats.org/drawingml/2006/main">
            <a:off x="9077325" y="5105400"/>
            <a:ext cx="939800" cy="676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893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AC5D3D-F823-4DFE-8EB6-8E0E7135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3225" b="1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8ECCA-6AEA-4FF2-AE5B-34CB54F8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AC5E3-1F04-45E8-92AD-B5AC38DB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57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700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One optimization couples payload delivery</a:t>
            </a:r>
          </a:p>
          <a:p xmlns:a="http://schemas.openxmlformats.org/drawingml/2006/main">
            <a:pPr>
              <a:buNone/>
              <a:defRPr sz="2700" b="1">
                <a:solidFill>
                  <a:srgbClr val="006A87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006A87"/>
                </a:solidFill>
                <a:latin typeface="DejaVu Sans"/>
                <a:ea typeface="DejaVu Sans"/>
                <a:cs typeface="DejaVu Sans"/>
              </a:rPr>
              <a:t>and booster recovery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1C25F-788F-4491-B218-E9094D5F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CasADi and IPOPT solve the coupled trajectory problem.</a:t>
            </a:r>
          </a:p>
          <a:p xmlns:a="http://schemas.openxmlformats.org/drawingml/2006/main">
            <a:pPr>
              <a:buNone/>
              <a:defRPr sz="2100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The nonlinear formulation produces a local optimum.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AF690-0668-4E84-9644-0A9748A7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Recovery propellant and flight constraints change</a:t>
            </a:r>
          </a:p>
          <a:p xmlns:a="http://schemas.openxmlformats.org/drawingml/2006/main">
            <a:pPr>
              <a:buNone/>
              <a:defRPr sz="2100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the ascent trajectory and achievable payload.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EA75D-1706-46C5-A552-4283D6C8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Falcon 9 provides a case study for comparing recovery modes</a:t>
            </a:r>
          </a:p>
          <a:p xmlns:a="http://schemas.openxmlformats.org/drawingml/2006/main">
            <a:pPr>
              <a:buNone/>
              <a:defRPr sz="2100" b="0">
                <a:solidFill>
                  <a:srgbClr val="15334A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5334A"/>
                </a:solidFill>
                <a:latin typeface="DejaVu Sans"/>
                <a:ea typeface="DejaVu Sans"/>
                <a:cs typeface="DejaVu Sans"/>
              </a:rPr>
              <a:t>and evaluating sensitivity to vehicle parameters.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D6EB8-2963-40D7-BDDA-3EAC5769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Scope: preliminary performance analysis with simplified recovery dynamics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95D02-14D1-4CFF-9A1A-FE978826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D6271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34194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2026-10-08T18:56:21.0670000Z</dcterms:created>
  <dcterms:modified xsi:type="dcterms:W3CDTF">2026-10-08T18:56:21.0670000Z</dcterms:modified>
</coreProperties>
</file>