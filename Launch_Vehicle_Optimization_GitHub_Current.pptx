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9e585fe69240b8" /><Relationship Type="http://schemas.openxmlformats.org/officeDocument/2006/relationships/extended-properties" Target="/docProps/app.xml" Id="R8a38aa627efe4e6c" /><Relationship Type="http://schemas.openxmlformats.org/officeDocument/2006/relationships/officeDocument" Target="/ppt/presentation.xml" Id="Rd72770ad37b843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58be010de644d2"/>
  </p:sldMasterIdLst>
  <p:notesMasterIdLst>
    <p:notesMasterId xmlns:r="http://schemas.openxmlformats.org/officeDocument/2006/relationships" r:id="R5ac9d892919c44f2"/>
  </p:notesMasterIdLst>
  <p:sldIdLst>
    <p:sldId xmlns:r="http://schemas.openxmlformats.org/officeDocument/2006/relationships" id="256" r:id="Rbc2068efd9834a0e"/>
    <p:sldId xmlns:r="http://schemas.openxmlformats.org/officeDocument/2006/relationships" id="257" r:id="R3a0a19f92fdb43b3"/>
    <p:sldId xmlns:r="http://schemas.openxmlformats.org/officeDocument/2006/relationships" id="258" r:id="R2c6c2437a8194b37"/>
    <p:sldId xmlns:r="http://schemas.openxmlformats.org/officeDocument/2006/relationships" id="259" r:id="R9d32d99b1dc84fe6"/>
    <p:sldId xmlns:r="http://schemas.openxmlformats.org/officeDocument/2006/relationships" id="260" r:id="R08369fba43194a61"/>
    <p:sldId xmlns:r="http://schemas.openxmlformats.org/officeDocument/2006/relationships" id="261" r:id="Rbf677ed548d94dc2"/>
    <p:sldId xmlns:r="http://schemas.openxmlformats.org/officeDocument/2006/relationships" id="262" r:id="R5300141d9d564bdf"/>
    <p:sldId xmlns:r="http://schemas.openxmlformats.org/officeDocument/2006/relationships" id="263" r:id="Raf94a5bd9ad74b58"/>
    <p:sldId xmlns:r="http://schemas.openxmlformats.org/officeDocument/2006/relationships" id="264" r:id="R475d0e6582af4bf2"/>
    <p:sldId xmlns:r="http://schemas.openxmlformats.org/officeDocument/2006/relationships" id="265" r:id="R6af6dd1982b04fe7"/>
    <p:sldId xmlns:r="http://schemas.openxmlformats.org/officeDocument/2006/relationships" id="266" r:id="R0de2e85f9601448b"/>
    <p:sldId xmlns:r="http://schemas.openxmlformats.org/officeDocument/2006/relationships" id="267" r:id="R448318d008a84a81"/>
    <p:sldId xmlns:r="http://schemas.openxmlformats.org/officeDocument/2006/relationships" id="268" r:id="Rd2bda784c01147f6"/>
    <p:sldId xmlns:r="http://schemas.openxmlformats.org/officeDocument/2006/relationships" id="269" r:id="Rc43a5cad765d4466"/>
    <p:sldId xmlns:r="http://schemas.openxmlformats.org/officeDocument/2006/relationships" id="270" r:id="R00c975b5634a4101"/>
    <p:sldId xmlns:r="http://schemas.openxmlformats.org/officeDocument/2006/relationships" id="271" r:id="Rbd539b2f3b954204"/>
    <p:sldId xmlns:r="http://schemas.openxmlformats.org/officeDocument/2006/relationships" id="272" r:id="Rb451feb294604ced"/>
    <p:sldId xmlns:r="http://schemas.openxmlformats.org/officeDocument/2006/relationships" id="273" r:id="Recca3a5c8d7247a8"/>
    <p:sldId xmlns:r="http://schemas.openxmlformats.org/officeDocument/2006/relationships" id="274" r:id="R6b1c7d0d651b42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2a41b8ddef4e7a" /><Relationship Type="http://schemas.openxmlformats.org/officeDocument/2006/relationships/slideMaster" Target="/ppt/slideMasters/slideMaster1.xml" Id="Raf58be010de644d2" /><Relationship Type="http://schemas.openxmlformats.org/officeDocument/2006/relationships/notesMaster" Target="/ppt/notesMasters/notesMaster1.xml" Id="R5ac9d892919c44f2" /><Relationship Type="http://schemas.openxmlformats.org/officeDocument/2006/relationships/presProps" Target="/ppt/presProps.xml" Id="Rd844df8304c94d3f" /><Relationship Type="http://schemas.openxmlformats.org/officeDocument/2006/relationships/tableStyles" Target="/ppt/tableStyles.xml" Id="R590265b0151d4aad" /><Relationship Type="http://schemas.openxmlformats.org/officeDocument/2006/relationships/slide" Target="/ppt/slides/slide1.xml" Id="Rbc2068efd9834a0e" /><Relationship Type="http://schemas.openxmlformats.org/officeDocument/2006/relationships/slide" Target="/ppt/slides/slide2.xml" Id="R3a0a19f92fdb43b3" /><Relationship Type="http://schemas.openxmlformats.org/officeDocument/2006/relationships/slide" Target="/ppt/slides/slide3.xml" Id="R2c6c2437a8194b37" /><Relationship Type="http://schemas.openxmlformats.org/officeDocument/2006/relationships/slide" Target="/ppt/slides/slide4.xml" Id="R9d32d99b1dc84fe6" /><Relationship Type="http://schemas.openxmlformats.org/officeDocument/2006/relationships/slide" Target="/ppt/slides/slide5.xml" Id="R08369fba43194a61" /><Relationship Type="http://schemas.openxmlformats.org/officeDocument/2006/relationships/slide" Target="/ppt/slides/slide6.xml" Id="Rbf677ed548d94dc2" /><Relationship Type="http://schemas.openxmlformats.org/officeDocument/2006/relationships/slide" Target="/ppt/slides/slide7.xml" Id="R5300141d9d564bdf" /><Relationship Type="http://schemas.openxmlformats.org/officeDocument/2006/relationships/slide" Target="/ppt/slides/slide8.xml" Id="Raf94a5bd9ad74b58" /><Relationship Type="http://schemas.openxmlformats.org/officeDocument/2006/relationships/slide" Target="/ppt/slides/slide9.xml" Id="R475d0e6582af4bf2" /><Relationship Type="http://schemas.openxmlformats.org/officeDocument/2006/relationships/slide" Target="/ppt/slides/slide10.xml" Id="R6af6dd1982b04fe7" /><Relationship Type="http://schemas.openxmlformats.org/officeDocument/2006/relationships/slide" Target="/ppt/slides/slide11.xml" Id="R0de2e85f9601448b" /><Relationship Type="http://schemas.openxmlformats.org/officeDocument/2006/relationships/slide" Target="/ppt/slides/slide12.xml" Id="R448318d008a84a81" /><Relationship Type="http://schemas.openxmlformats.org/officeDocument/2006/relationships/slide" Target="/ppt/slides/slide13.xml" Id="Rd2bda784c01147f6" /><Relationship Type="http://schemas.openxmlformats.org/officeDocument/2006/relationships/slide" Target="/ppt/slides/slide14.xml" Id="Rc43a5cad765d4466" /><Relationship Type="http://schemas.openxmlformats.org/officeDocument/2006/relationships/slide" Target="/ppt/slides/slide15.xml" Id="R00c975b5634a4101" /><Relationship Type="http://schemas.openxmlformats.org/officeDocument/2006/relationships/slide" Target="/ppt/slides/slide16.xml" Id="Rbd539b2f3b954204" /><Relationship Type="http://schemas.openxmlformats.org/officeDocument/2006/relationships/slide" Target="/ppt/slides/slide17.xml" Id="Rb451feb294604ced" /><Relationship Type="http://schemas.openxmlformats.org/officeDocument/2006/relationships/slide" Target="/ppt/slides/slide18.xml" Id="Recca3a5c8d7247a8" /><Relationship Type="http://schemas.openxmlformats.org/officeDocument/2006/relationships/slide" Target="/ppt/slides/slide19.xml" Id="R6b1c7d0d651b42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3caa30b185d48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b3991a5ea545b2" /><Relationship Type="http://schemas.openxmlformats.org/officeDocument/2006/relationships/notesMaster" Target="/ppt/notesMasters/notesMaster1.xml" Id="Ra8481321211243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db58cdd8844437" /><Relationship Type="http://schemas.openxmlformats.org/officeDocument/2006/relationships/notesMaster" Target="/ppt/notesMasters/notesMaster1.xml" Id="R9b6d180242ed4e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96a4f49a6a4bed" /><Relationship Type="http://schemas.openxmlformats.org/officeDocument/2006/relationships/notesMaster" Target="/ppt/notesMasters/notesMaster1.xml" Id="R5d235b9229e645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ba75301711a4a96" /><Relationship Type="http://schemas.openxmlformats.org/officeDocument/2006/relationships/notesMaster" Target="/ppt/notesMasters/notesMaster1.xml" Id="Rced90e3a408d46e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b84c1cdf824aa9" /><Relationship Type="http://schemas.openxmlformats.org/officeDocument/2006/relationships/notesMaster" Target="/ppt/notesMasters/notesMaster1.xml" Id="R62f9cf6f553c43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c0b0ea859742f6" /><Relationship Type="http://schemas.openxmlformats.org/officeDocument/2006/relationships/notesMaster" Target="/ppt/notesMasters/notesMaster1.xml" Id="R7b4ffd2002754b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79742ef2c5467a" /><Relationship Type="http://schemas.openxmlformats.org/officeDocument/2006/relationships/notesMaster" Target="/ppt/notesMasters/notesMaster1.xml" Id="Ra8fd439796a844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25ebbb3ac34ee1" /><Relationship Type="http://schemas.openxmlformats.org/officeDocument/2006/relationships/notesMaster" Target="/ppt/notesMasters/notesMaster1.xml" Id="R01ea6626d4044c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6159e5b5a2481a" /><Relationship Type="http://schemas.openxmlformats.org/officeDocument/2006/relationships/notesMaster" Target="/ppt/notesMasters/notesMaster1.xml" Id="R1cb6afc363c046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7ac1c1f8f2446e" /><Relationship Type="http://schemas.openxmlformats.org/officeDocument/2006/relationships/notesMaster" Target="/ppt/notesMasters/notesMaster1.xml" Id="Rc9d0411d8eea40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69210d4ba44013" /><Relationship Type="http://schemas.openxmlformats.org/officeDocument/2006/relationships/notesMaster" Target="/ppt/notesMasters/notesMaster1.xml" Id="R826b9db12f30467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39c3c29f4f40ed" /><Relationship Type="http://schemas.openxmlformats.org/officeDocument/2006/relationships/notesMaster" Target="/ppt/notesMasters/notesMaster1.xml" Id="R5f6c2f280b5241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c2895fba01e4445" /><Relationship Type="http://schemas.openxmlformats.org/officeDocument/2006/relationships/notesMaster" Target="/ppt/notesMasters/notesMaster1.xml" Id="R55256b4308e8453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3fef02dee374e9d" /><Relationship Type="http://schemas.openxmlformats.org/officeDocument/2006/relationships/notesMaster" Target="/ppt/notesMasters/notesMaster1.xml" Id="R5674a5d31d5e4bb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51ad0454b894bce" /><Relationship Type="http://schemas.openxmlformats.org/officeDocument/2006/relationships/notesMaster" Target="/ppt/notesMasters/notesMaster1.xml" Id="R1737e374e7be4e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8833755e79040d3" /><Relationship Type="http://schemas.openxmlformats.org/officeDocument/2006/relationships/notesMaster" Target="/ppt/notesMasters/notesMaster1.xml" Id="R8e860bbac0414f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a7dc3da7e6c42ca" /><Relationship Type="http://schemas.openxmlformats.org/officeDocument/2006/relationships/notesMaster" Target="/ppt/notesMasters/notesMaster1.xml" Id="Recd9fd56011a40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a5ca56dbf184e96" /><Relationship Type="http://schemas.openxmlformats.org/officeDocument/2006/relationships/notesMaster" Target="/ppt/notesMasters/notesMaster1.xml" Id="Rc65bcf37039a4a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17c7ac2e4024c55" /><Relationship Type="http://schemas.openxmlformats.org/officeDocument/2006/relationships/notesMaster" Target="/ppt/notesMasters/notesMaster1.xml" Id="R84ce64e962d344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\begin{aligned}T_1 &amp;= f_T\left[T_{1,\mathrm{vac}}-(T_{1,\mathrm{vac}}-T_{1,\mathrm{SL}})\frac{p_a}{p_0}\right]\\[9pt]\dot m_1&amp;=-\frac{f_TT_{1,\mathrm{vac}}}{g_0I_{sp,1,\mathrm{vac}}}\\[9pt]\dot m_2&amp;=-\frac{\|\bm F\|}{g_0I_{sp,2}(f_T)}\\[9pt]I_{sp,2}(f_T)&amp;=I_{sp,2,\max}\left[\eta_{2,\min}+(1-\eta_{2,\min})\frac{f_T-f_{2,\min}}{1-f_{2,\min}}\right]\end{aligned}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\begin{aligned}m&amp;=m_{\mathrm{inert}}+m_{p,\mathrm{remaining}}+m_{\mathrm{carried}}\\[9pt]\dot m&amp;=-\dot m_p^{\mathrm{used}}\\[9pt]m_{2,0}&amp;=m_{2,\mathrm{wet}}+m_{\mathrm{PL}}\\[9pt]m_{B,0}&amp;=m_{1,f}-m_{2,0}\\[9pt]m^+&amp;=m^--m_{\mathrm{fairing}}\end{aligned}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\begin{aligned}q&amp;=\tfrac12\rho(h)V^2\\[9pt]L&amp;=qS C_{L_\alpha}\alpha\\[9pt]D&amp;=qS\left[C_{D_0}+C_{D_{\alpha^2}}\alpha^2\right]\\[9pt]D_B&amp;=qS C_{D,B}\\[9pt]|q\alpha|&amp;\leq(q\alpha)_{\max}\end{aligned}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\gamma=\operatorname{atan2}(v_z,v_x),\quad \bm e_v=[\cos\gamma,\sin\gamma]^{\mathsf T},\quad \bm e_n=[-\sin\gamma,\cos\gamma]^{\mathsf T}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\begin{aligned}h&amp;=\|\bm r\|-R_E\\[9pt]\rho&amp;=\rho(h)\\[9pt]p_a&amp;=p_a(h)\\[9pt]a&amp;=a(h)\end{aligned}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\begin{aligned}\bm g(\bm r)&amp;=-\mu\frac{\bm r}{\|\bm r\|^3}\\[9pt]\bm r_L&amp;=\begin{bmatrix}x &amp; R_E+z\end{bmatrix}^{\mathsf T}\\[9pt]\bm g_L&amp;=-\mu\frac{\bm r_L}{\|\bm r_L\|^3}\\[9pt]\mu&amp;=g_0R_E^2\end{aligned}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\begin{aligned}\dot q_c&amp;=\kappa\sqrt{\rho}\,V^3\\[9pt]\dot q_c&amp;\leq\dot q_{B,\max}\\[9pt]q&amp;\leq q_{B,\max}\end{aligned}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x_L=\begin{bmatrix}x&amp;z&amp;v_x&amp;v_z&amp;m\end{bmatrix}^{\mathsf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u_1=\begin{bmatrix}f_T&amp;\alpha\end{bmatrix}^{\mathsf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e_T=[\cos(\gamma+\alpha),\sin(\gamma+\alpha)]^{\mathsf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r}_L&amp;=\bm v_L\\[4pt]\dot{\bm v}_L&amp;=\frac{T\bm e_T-D\bm e_v+L\bm e_n}{m}+\bm g_L\\[4pt]\dot m&amp;=-\frac{f_TT_{1,\mathrm{vac}}}{g_0I_{sp,1,\mathrm{vac}}}\end{aligned}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\begin{aligned}q&amp;\leq q_{1,\max}\\[2pt]|q\alpha|&amp;\leq(q\alpha)_{\max}\\[2pt]a_{\mathrm{load}}&amp;\leq a_{\max},\quad |\alpha|\leq\alpha_{\max}\\[2pt]f_{1,\min}&amp;\leq f_T\leq1\\[2pt]q(t_{\mathrm{sep}})&amp;\leq q_{\mathrm{sep},\max}\end{aligned}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x_E=\begin{bmatrix}r_x&amp;r_y&amp;r_z&amp;v_x&amp;v_y&amp;v_z&amp;m\end{bmatrix}^{\mathsf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\bm{u}_2=\begin{bmatrix}F_x&amp;F_y&amp;F_z\end{bmatrix}^{\mathsf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r}&amp;=\bm v\\[4pt]\dot{\bm v}&amp;=\frac{\bm F}{m}-\mu\frac{\bm r}{\|\bm r\|^3}\\[4pt]\dot m&amp;=-\frac{\|\bm F\|}{g_0 I_{sp,2}(f_T)}\end{aligned}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\begin{aligned}T_{2,\min}&amp;\leq\|\bm F\|\leq T_{2,\max}\\[2pt]h(t_{\mathrm{fair}})&amp;\geq h_{\mathrm{fair}}\\[2pt]\bm r^+&amp;=\bm r^-,\quad\bm v^+=\bm v^-\\[2pt]m^+&amp;=m^--m_{\mathrm{fairing}}\end{aligned}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x_E=\begin{bmatrix}r_x&amp;r_y&amp;r_z&amp;v_x&amp;v_y&amp;v_z&amp;m\end{bmatrix}^{\mathsf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u_3=\bm 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r}&amp;=\bm v\\[4pt]\dot{\bm v}&amp;=\frac{\bm F}{m}-\mu\frac{\bm r}{\|\bm r\|^3}\\[4pt]\dot m&amp;=-\frac{\|\bm F\|}{g_0 I_{sp,2}(f_T)}\end{aligned}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\begin{aligned}T_{2,\min}&amp;\leq\|\bm F\|\leq T_{2,\max}\\[2pt]a_{\mathrm{load}}&amp;\leq a_{\max}\\[2pt]r_{a,\mathrm{park}}&amp;=r_{p,\mathrm{target}}\\[2pt]r_{p,\mathrm{park}}&amp;\geq R_E+h_{p,\min}\\[2pt]i_{\mathrm{park}}&amp;=i_{\mathrm{target}}\\[2pt]m_{\mathrm{pre}}&amp;\geq m_{2,\mathrm{dry}}+m_{\mathrm{PL}}+\Delta m\end{aligned}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x_E=\begin{bmatrix}r_x&amp;r_y&amp;r_z&amp;v_x&amp;v_y&amp;v_z&amp;m\end{bmatrix}^{\mathsf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u_{\mathrm{coast}}=\bm F=\bm0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r}&amp;=\bm v\\[4pt]\dot{\bm v}&amp;=-\mu\frac{\bm r}{\|\bm r\|^3}\\[4pt]\dot m&amp;=0\end{aligned}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\begin{aligned}\|\bm r(t_{\mathrm{SES2}})\|&amp;=r_{a,\mathrm{park}}\\[2pt]\bm r^{\mathsf T}\bm v&amp;=0\quad\text{at apogee}\\[2pt]r_{a,\mathrm{park}}&amp;=r_{p,\mathrm{target}}\\[2pt]m_{\mathrm{pre}}&amp;\geq m_{2,\mathrm{dry}}+m_{\mathrm{PL}}+\Delta m\end{aligned}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x_E=\begin{bmatrix}r_x&amp;r_y&amp;r_z&amp;v_x&amp;v_y&amp;v_z&amp;m\end{bmatrix}^{\mathsf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u_{\mathrm{SES2}}=\Delta\bm v=\Delta v\,\hat{\bm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\begin{aligned}r_b&amp;=r_{a,\mathrm{park}}=r_{p,\mathrm{target}}\\[4pt]v(r_b,a)&amp;=\sqrt{\mu\left(\frac{2}{r_b}-\frac1a\right)}\\[4pt]\Delta v&amp;=v(r_b,a_{\mathrm{target}})-v(r_b,a_{\mathrm{park}})\\[4pt]\Delta m&amp;=m_{\mathrm{pre}}\left(1-e^{-\frac{|\Delta v|}{g_0I_{sp,2}}}\right)\end{aligned}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\begin{aligned}\bm r^+&amp;=\bm r^-\\[2pt]\bm v^+&amp;=\bm v^-+\Delta v\hat{\bm t}\\[2pt]m^+&amp;=m_{\mathrm{pre}}-\Delta m\\[2pt]r_p^+&amp;=r_{p,\mathrm{target}},\ r_a^+=r_{a,\mathrm{target}}\\[2pt]i^+&amp;=i_{\mathrm{target}}\\[2pt]m^+&amp;\geq m_{2,\mathrm{dry}}+m_{\mathrm{PL}}\end{aligned}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x_L=\begin{bmatrix}x&amp;z&amp;v_x&amp;v_z&amp;m\end{bmatrix}^{\mathsf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u_{\mathrm{BB}}=\bm F_B=\begin{bmatrix}F_x&amp;F_z\end{bmatrix}^{\mathsf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r}_L&amp;=\bm v_L\\[4pt]\dot{\bm v}_L&amp;=\frac{\bm F_B}{m}+\bm g_L\\[4pt]\dot m&amp;=-\frac{\|\bm F_B\|}{g_0I_{sp,1,\mathrm{vac}}}\end{aligned}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\begin{aligned}\|\bm F_B\|&amp;\leq T_{\mathrm{BB},\max}\\[2pt]\Delta t_{\mathrm{BB}}&amp;\geq t_{\mathrm{BB},\min}\\[2pt]m_{B,f}&amp;\geq m_{B,\mathrm{dry}}\\[2pt]x_{\mathrm{land}}&amp;=x_{\mathrm{launch}}\quad\text{(later boundary)}\end{aligned}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x_L=\begin{bmatrix}x&amp;z&amp;v_x&amp;v_z&amp;m\end{bmatrix}^{\mathsf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u_{\mathrm{ballistic}}=\bm0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r}_L&amp;=\bm v_L\\[4pt]\dot{\bm v}_L&amp;=-\frac{D}{m}\bm e_v+\bm g_L\\[4pt]\dot m&amp;=0\\[4pt]D&amp;=\tfrac12\rho V^2S C_{D,B}\end{aligned}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\begin{aligned}\Delta t_{\mathrm{coast}}&amp;\geq t_{\mathrm{coast},\min}\\[2pt]h(t_{\mathrm{entry}})&amp;\geq h_{\mathrm{entry},\min}\\[2pt]m&amp;=\mathrm{constant}\end{aligned}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x_L=\begin{bmatrix}x&amp;z&amp;v_x&amp;v_z&amp;m\end{bmatrix}^{\mathsf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u_{\mathrm{entry}}=f_T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r}_L&amp;=\bm v_L\\[4pt]\dot{\bm v}_L&amp;=-\frac{T+D}{m}\bm e_v+\bm g_L\\[4pt]\dot m&amp;=-\frac{f_T T_{B,\mathrm{ref}}}{g_0 I_{sp,B}}\end{aligned}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\begin{aligned}f_{\mathrm{entry},\min}&amp;\leq f_T\leq f_{\mathrm{entry},\max}\\[2pt]\Delta t_{\mathrm{entry}}&amp;\geq t_{\mathrm{entry},\min}\\[2pt]q&amp;\leq q_{B,\max}\quad\text{(next descent)}\\[2pt]\dot q_c&amp;\leq\dot q_{B,\max}\quad\text{(next descent)}\end{aligned}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x_L=\begin{bmatrix}x&amp;z&amp;v_x&amp;v_z&amp;m\end{bmatrix}^{\mathsf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u_{\mathrm{descent}}=\bm0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r}_L&amp;=\bm v_L\\[4pt]\dot{\bm v}_L&amp;=-\frac{D}{m}\bm e_v+\bm g_L\\[4pt]\dot m&amp;=0\end{aligned}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\begin{aligned}q&amp;\leq q_{B,\max}\\[2pt]\dot q_c&amp;\leq\dot q_{B,\max}\\[2pt]\Delta t_{\mathrm{descent}}&amp;\geq t_{\mathrm{descent},\min}\end{aligned}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\bm x_L=\begin{bmatrix}x&amp;z&amp;v_x&amp;v_z&amp;m\end{bmatrix}^{\mathsf 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\bm u_{\mathrm{land}}(t)=f_T(t)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\begin{aligned}\dot{\bm r}_L&amp;=\bm v_L\\[4pt]\dot{\bm v}_L&amp;=-\frac{T+D}{m}\bm e_v+\bm g_L\\[4pt]\dot m&amp;=-\frac{f_T T_{B,\mathrm{ref}}}{g_0 I_{sp,B}}\end{aligned}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\begin{aligned}f_{\mathrm{land},\min}&amp;\leq f_T\leq f_{\mathrm{land},\max}\\[2pt]q&amp;\leq q_{B,\max}\\[2pt]\dot q_c&amp;\leq\dot q_{B,\max}\\[2pt]\|\bm v_f\|&amp;\leq V_{\mathrm{land},\max}\\[2pt]m_f&amp;\geq m_{B,\mathrm{dry}},\quad h_f=h_{\mathrm{land}}\\[2pt]x_f&amp;=x_{\mathrm{launch}}\quad\text{(RTLS)}\end{aligned}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LaTeX source:</a:t>
            </a:r>
          </a:p>
          <a:p xmlns:a="http://schemas.openxmlformats.org/drawingml/2006/main">
            <a:r>
              <a:t>t_0=t_{\mathrm{rise}}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q\leq q_{1,\max},\quad |q\alpha|\leq(q\alpha)_{\max}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q_{\mathrm{sep}}\leq q_{\mathrm{sep},\max};\ \text{split upper stage / booster}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\begin{aligned}h\geq h_{\mathrm{fair}}\\[2pt]m^+=m^--m_{\mathrm{fairing}}\end{aligned}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\begin{aligned}r_{a,\mathrm{park}}=r_{p,\mathrm{target}}\\[2pt]h_{p,\mathrm{park}}\geq h_{p,\min}\\[2pt]i=i_{\mathrm{target}},\ m\geq m_{\mathrm{reserve}}\end{aligned}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\begin{aligned}r=r_{a,\mathrm{park}},\ \dot r=0\\[2pt]\bm F=\bm0\end{aligned}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\begin{aligned}r_p=r_{p,\mathrm{target}}\\[2pt]r_a=r_{a,\mathrm{target}}\\[2pt]m^+\geq m_{2,\mathrm{dry}}+m_{\mathrm{PL}}\end{aligned}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\begin{aligned}\|\bm F_B\|\leq T_{\mathrm{BB},\max}\\[2pt]\Delta t_{\mathrm{BB}}\geq t_{\mathrm{BB},\min}\end{aligned}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\begin{aligned}\Delta t_{\mathrm{coast}}\geq t_{\mathrm{coast},\min}\\[2pt]h_{\mathrm{entry}}\geq h_{\mathrm{entry},\min}\end{aligned}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\begin{aligned}q\leq q_{B,\max}\\[2pt]\dot q_c\leq\dot q_{B,\max}\end{aligned}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\begin{aligned}h_f=h_{\mathrm{land}}\\[2pt]\|\bm v_f\|\leq V_{\mathrm{land},\max}\\[2pt]m_f\geq m_{B,\mathrm{dry}}\end{aligned}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symbolic formulation based on LaunchVehicleOptimization, implementation snapshot 5295f20211b50467d81eac8f47408673b93e9190. Source: https://github.com/pukmark/LaunchVehicleOptimization/tree/5295f20211b50467d81eac8f47408673b93e9190 . Vehicle properties, engine configurations, phase gates and operational bounds remain input parameters. No Falcon 9 numerical values are assigned.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 parameter symbols are configured per vehicle and mission. Mathematical constants, phase indices and state-vector dimensions remain explicit. Phase gates are feasibility constraints rather than necessarily automatic event triggers. SES-2 uses an analytical tangential impulse and propellant reserve. Heat and dynamic-pressure limits are sampled during post-entry descent and landing in the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7dfb7644b04d0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9e1b0f2f2749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d88e9f631b452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f8decac0c4461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cd33cbc2f4c6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d89f8c4af84f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12E5B9-6553-4A79-A03E-5157182808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D67F9C3-AB6C-4CC8-A04F-0087F76CA4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C78E7C-0596-4657-B9EE-01DC75FCE3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B7C43E-229B-4E8E-8236-2E9516DC80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F167C75-B1DF-416C-A53F-990A0EF7E6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5D2FF08-4489-4E79-95CC-4300ADFDBB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067B7A9-D30B-4DA8-A1EB-5C6CAFD972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2FBC74E-DA6D-4A05-8D3C-D51E841AA1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3DCD9CD-5949-48AB-B898-A5E5510B74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6D4583-FED7-47E0-A950-390A06E2DF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18ac1b3e0f4120" /><Relationship Type="http://schemas.openxmlformats.org/officeDocument/2006/relationships/slideLayout" Target="/ppt/slideLayouts/slideLayout1.xml" Id="Ra540ab8d1b874f85" /><Relationship Type="http://schemas.openxmlformats.org/officeDocument/2006/relationships/slideLayout" Target="/ppt/slideLayouts/slideLayout2.xml" Id="R11c5ffc8ecae4157" /><Relationship Type="http://schemas.openxmlformats.org/officeDocument/2006/relationships/slideLayout" Target="/ppt/slideLayouts/slideLayout3.xml" Id="Raf652c16cd77430c" /><Relationship Type="http://schemas.openxmlformats.org/officeDocument/2006/relationships/slideLayout" Target="/ppt/slideLayouts/slideLayout4.xml" Id="R68f6473d4a99411a" /><Relationship Type="http://schemas.openxmlformats.org/officeDocument/2006/relationships/slideLayout" Target="/ppt/slideLayouts/slideLayout5.xml" Id="R1f5d1eedffe34d7a" /><Relationship Type="http://schemas.openxmlformats.org/officeDocument/2006/relationships/slideLayout" Target="/ppt/slideLayouts/slideLayout6.xml" Id="Rdce38a10362440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40ab8d1b874f85"/>
    <p:sldLayoutId xmlns:r="http://schemas.openxmlformats.org/officeDocument/2006/relationships" id="2147483650" r:id="R11c5ffc8ecae4157"/>
    <p:sldLayoutId xmlns:r="http://schemas.openxmlformats.org/officeDocument/2006/relationships" id="2147483651" r:id="Raf652c16cd77430c"/>
    <p:sldLayoutId xmlns:r="http://schemas.openxmlformats.org/officeDocument/2006/relationships" id="2147483652" r:id="R68f6473d4a99411a"/>
    <p:sldLayoutId xmlns:r="http://schemas.openxmlformats.org/officeDocument/2006/relationships" id="2147483653" r:id="R1f5d1eedffe34d7a"/>
    <p:sldLayoutId xmlns:r="http://schemas.openxmlformats.org/officeDocument/2006/relationships" id="2147483654" r:id="Rdce38a10362440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5c2789e75042c7" /><Relationship Type="http://schemas.openxmlformats.org/officeDocument/2006/relationships/notesSlide" Target="/ppt/notesSlides/notesSlide1.xml" Id="R2456da7e71a542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1b029b670d48bb" /><Relationship Type="http://schemas.openxmlformats.org/officeDocument/2006/relationships/image" Target="/ppt/media/image.png" Id="Rfaa3c779adeb49fc" /><Relationship Type="http://schemas.openxmlformats.org/officeDocument/2006/relationships/notesSlide" Target="/ppt/notesSlides/notesSlide2.xml" Id="R797dbaf9d4464c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01c51d6a124d6b" /><Relationship Type="http://schemas.openxmlformats.org/officeDocument/2006/relationships/image" Target="/ppt/media/image2.png" Id="R0fa20b25c380449b" /><Relationship Type="http://schemas.openxmlformats.org/officeDocument/2006/relationships/notesSlide" Target="/ppt/notesSlides/notesSlide3.xml" Id="R269070d81b2d4f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143ec758854eac" /><Relationship Type="http://schemas.openxmlformats.org/officeDocument/2006/relationships/image" Target="/ppt/media/image3.png" Id="R49030dbd5b164408" /><Relationship Type="http://schemas.openxmlformats.org/officeDocument/2006/relationships/image" Target="/ppt/media/image4.png" Id="R8344822a75ce45a5" /><Relationship Type="http://schemas.openxmlformats.org/officeDocument/2006/relationships/notesSlide" Target="/ppt/notesSlides/notesSlide4.xml" Id="Rb8ea4a0533a64e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dd11c7f23447d8" /><Relationship Type="http://schemas.openxmlformats.org/officeDocument/2006/relationships/image" Target="/ppt/media/image5.png" Id="R241b5d4482c14327" /><Relationship Type="http://schemas.openxmlformats.org/officeDocument/2006/relationships/notesSlide" Target="/ppt/notesSlides/notesSlide5.xml" Id="R2eba81fc114c4f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dbc492b8664920" /><Relationship Type="http://schemas.openxmlformats.org/officeDocument/2006/relationships/image" Target="/ppt/media/image6.png" Id="R82826795532b4e09" /><Relationship Type="http://schemas.openxmlformats.org/officeDocument/2006/relationships/notesSlide" Target="/ppt/notesSlides/notesSlide6.xml" Id="R9e58593a5cb942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8fb5f4410f41d1" /><Relationship Type="http://schemas.openxmlformats.org/officeDocument/2006/relationships/image" Target="/ppt/media/image7.png" Id="R8c12492416f84840" /><Relationship Type="http://schemas.openxmlformats.org/officeDocument/2006/relationships/notesSlide" Target="/ppt/notesSlides/notesSlide7.xml" Id="R3a75a04482b14e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6f71dbfbc54860" /><Relationship Type="http://schemas.openxmlformats.org/officeDocument/2006/relationships/image" Target="/ppt/media/image8.png" Id="Rc1fd3be1edd54799" /><Relationship Type="http://schemas.openxmlformats.org/officeDocument/2006/relationships/image" Target="/ppt/media/image9.png" Id="Rd73874983416414c" /><Relationship Type="http://schemas.openxmlformats.org/officeDocument/2006/relationships/image" Target="/ppt/media/image10.png" Id="R7497530ae30848b2" /><Relationship Type="http://schemas.openxmlformats.org/officeDocument/2006/relationships/image" Target="/ppt/media/image11.png" Id="R4e84ef8f37f14ecc" /><Relationship Type="http://schemas.openxmlformats.org/officeDocument/2006/relationships/image" Target="/ppt/media/image12.png" Id="R052367565d5e45a8" /><Relationship Type="http://schemas.openxmlformats.org/officeDocument/2006/relationships/notesSlide" Target="/ppt/notesSlides/notesSlide8.xml" Id="Rbc622dc6ffb44b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34bdc224994c40" /><Relationship Type="http://schemas.openxmlformats.org/officeDocument/2006/relationships/image" Target="/ppt/media/image13.png" Id="R612260cc5ee3456a" /><Relationship Type="http://schemas.openxmlformats.org/officeDocument/2006/relationships/image" Target="/ppt/media/image14.png" Id="R61ab2eb5a9f544d5" /><Relationship Type="http://schemas.openxmlformats.org/officeDocument/2006/relationships/image" Target="/ppt/media/image15.png" Id="Rbcea00e7135e49ff" /><Relationship Type="http://schemas.openxmlformats.org/officeDocument/2006/relationships/image" Target="/ppt/media/image16.png" Id="R8d6e0a08182148e4" /><Relationship Type="http://schemas.openxmlformats.org/officeDocument/2006/relationships/notesSlide" Target="/ppt/notesSlides/notesSlide9.xml" Id="R0d593a89b68846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5bb52c813147d5" /><Relationship Type="http://schemas.openxmlformats.org/officeDocument/2006/relationships/image" Target="/ppt/media/image17.png" Id="R88955cfb00474670" /><Relationship Type="http://schemas.openxmlformats.org/officeDocument/2006/relationships/image" Target="/ppt/media/image18.png" Id="Rb1bf73910984481b" /><Relationship Type="http://schemas.openxmlformats.org/officeDocument/2006/relationships/image" Target="/ppt/media/image19.png" Id="R5ccd1684ee42412f" /><Relationship Type="http://schemas.openxmlformats.org/officeDocument/2006/relationships/image" Target="/ppt/media/image20.png" Id="R8d5d217790244c49" /><Relationship Type="http://schemas.openxmlformats.org/officeDocument/2006/relationships/notesSlide" Target="/ppt/notesSlides/notesSlide10.xml" Id="Ra997035d4f284d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82d8ffb2554653" /><Relationship Type="http://schemas.openxmlformats.org/officeDocument/2006/relationships/image" Target="/ppt/media/image21.png" Id="R8df4141a8e204268" /><Relationship Type="http://schemas.openxmlformats.org/officeDocument/2006/relationships/image" Target="/ppt/media/image22.png" Id="R6700a81a96864000" /><Relationship Type="http://schemas.openxmlformats.org/officeDocument/2006/relationships/image" Target="/ppt/media/image23.png" Id="Raf1ae136fbca4c02" /><Relationship Type="http://schemas.openxmlformats.org/officeDocument/2006/relationships/image" Target="/ppt/media/image24.png" Id="R4a8b441028b8495a" /><Relationship Type="http://schemas.openxmlformats.org/officeDocument/2006/relationships/notesSlide" Target="/ppt/notesSlides/notesSlide11.xml" Id="R47b308b820634d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d66e0395694bc8" /><Relationship Type="http://schemas.openxmlformats.org/officeDocument/2006/relationships/image" Target="/ppt/media/image25.png" Id="R07e3f23f6cbb4e53" /><Relationship Type="http://schemas.openxmlformats.org/officeDocument/2006/relationships/image" Target="/ppt/media/image26.png" Id="R1e7907d9e6044509" /><Relationship Type="http://schemas.openxmlformats.org/officeDocument/2006/relationships/image" Target="/ppt/media/image27.png" Id="R46204792eff54b56" /><Relationship Type="http://schemas.openxmlformats.org/officeDocument/2006/relationships/image" Target="/ppt/media/image28.png" Id="R9723cb7bd5ad41f6" /><Relationship Type="http://schemas.openxmlformats.org/officeDocument/2006/relationships/notesSlide" Target="/ppt/notesSlides/notesSlide12.xml" Id="R43be17bb989d4a5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36b2fba548452d" /><Relationship Type="http://schemas.openxmlformats.org/officeDocument/2006/relationships/image" Target="/ppt/media/image29.png" Id="R445ddba4e9954620" /><Relationship Type="http://schemas.openxmlformats.org/officeDocument/2006/relationships/image" Target="/ppt/media/image30.png" Id="R01384c885f0846df" /><Relationship Type="http://schemas.openxmlformats.org/officeDocument/2006/relationships/image" Target="/ppt/media/image31.png" Id="R9f73a35770ad4d36" /><Relationship Type="http://schemas.openxmlformats.org/officeDocument/2006/relationships/image" Target="/ppt/media/image32.png" Id="Rfa016aa6d01447a0" /><Relationship Type="http://schemas.openxmlformats.org/officeDocument/2006/relationships/notesSlide" Target="/ppt/notesSlides/notesSlide13.xml" Id="R9731a298f6af465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a55df19ec4521" /><Relationship Type="http://schemas.openxmlformats.org/officeDocument/2006/relationships/image" Target="/ppt/media/image33.png" Id="R2d278f22c4304b47" /><Relationship Type="http://schemas.openxmlformats.org/officeDocument/2006/relationships/image" Target="/ppt/media/image34.png" Id="R8ae8d5e38f4e4d79" /><Relationship Type="http://schemas.openxmlformats.org/officeDocument/2006/relationships/image" Target="/ppt/media/image35.png" Id="R76dad9476b434835" /><Relationship Type="http://schemas.openxmlformats.org/officeDocument/2006/relationships/image" Target="/ppt/media/image36.png" Id="Rc9216b78093f4822" /><Relationship Type="http://schemas.openxmlformats.org/officeDocument/2006/relationships/notesSlide" Target="/ppt/notesSlides/notesSlide14.xml" Id="R362642126b3c47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677e4a97a846fa" /><Relationship Type="http://schemas.openxmlformats.org/officeDocument/2006/relationships/image" Target="/ppt/media/image37.png" Id="Rbc738b54c8ce420b" /><Relationship Type="http://schemas.openxmlformats.org/officeDocument/2006/relationships/image" Target="/ppt/media/image38.png" Id="R71ad5147bec94e40" /><Relationship Type="http://schemas.openxmlformats.org/officeDocument/2006/relationships/image" Target="/ppt/media/image39.png" Id="Re5b4f64db8174562" /><Relationship Type="http://schemas.openxmlformats.org/officeDocument/2006/relationships/image" Target="/ppt/media/image40.png" Id="R2abf351431b74e95" /><Relationship Type="http://schemas.openxmlformats.org/officeDocument/2006/relationships/notesSlide" Target="/ppt/notesSlides/notesSlide15.xml" Id="R3094ae4546824e1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6a7317dba041c4" /><Relationship Type="http://schemas.openxmlformats.org/officeDocument/2006/relationships/image" Target="/ppt/media/image41.png" Id="Red189fc4c1694489" /><Relationship Type="http://schemas.openxmlformats.org/officeDocument/2006/relationships/image" Target="/ppt/media/image42.png" Id="R4b797d1fe5664964" /><Relationship Type="http://schemas.openxmlformats.org/officeDocument/2006/relationships/image" Target="/ppt/media/image43.png" Id="Raae62361ff3f47ef" /><Relationship Type="http://schemas.openxmlformats.org/officeDocument/2006/relationships/image" Target="/ppt/media/image44.png" Id="R5a850914903d43ba" /><Relationship Type="http://schemas.openxmlformats.org/officeDocument/2006/relationships/notesSlide" Target="/ppt/notesSlides/notesSlide16.xml" Id="Rfae18109264447d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897c7ef968468b" /><Relationship Type="http://schemas.openxmlformats.org/officeDocument/2006/relationships/image" Target="/ppt/media/image45.png" Id="R43bbe72722954319" /><Relationship Type="http://schemas.openxmlformats.org/officeDocument/2006/relationships/image" Target="/ppt/media/image46.png" Id="R4307d178c8e0494c" /><Relationship Type="http://schemas.openxmlformats.org/officeDocument/2006/relationships/image" Target="/ppt/media/image47.png" Id="Rdd669630dba64196" /><Relationship Type="http://schemas.openxmlformats.org/officeDocument/2006/relationships/image" Target="/ppt/media/image48.png" Id="R32389cdffcb94933" /><Relationship Type="http://schemas.openxmlformats.org/officeDocument/2006/relationships/notesSlide" Target="/ppt/notesSlides/notesSlide17.xml" Id="Rbe4c212670de4d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ff382b314b4738" /><Relationship Type="http://schemas.openxmlformats.org/officeDocument/2006/relationships/image" Target="/ppt/media/image49.png" Id="Rfed19576d74f4278" /><Relationship Type="http://schemas.openxmlformats.org/officeDocument/2006/relationships/image" Target="/ppt/media/image50.png" Id="R474bf520bd72499b" /><Relationship Type="http://schemas.openxmlformats.org/officeDocument/2006/relationships/image" Target="/ppt/media/image51.png" Id="R6e52cbe5f02c4dcf" /><Relationship Type="http://schemas.openxmlformats.org/officeDocument/2006/relationships/image" Target="/ppt/media/image52.png" Id="Rc32f6cd929e94959" /><Relationship Type="http://schemas.openxmlformats.org/officeDocument/2006/relationships/image" Target="/ppt/media/image53.png" Id="R038cfd6239b64fd5" /><Relationship Type="http://schemas.openxmlformats.org/officeDocument/2006/relationships/image" Target="/ppt/media/image54.png" Id="Rcf5c022a9edd4f1c" /><Relationship Type="http://schemas.openxmlformats.org/officeDocument/2006/relationships/image" Target="/ppt/media/image55.png" Id="Rb0ab3fcf01ef4bb3" /><Relationship Type="http://schemas.openxmlformats.org/officeDocument/2006/relationships/image" Target="/ppt/media/image56.png" Id="R2847f3f48f5b4678" /><Relationship Type="http://schemas.openxmlformats.org/officeDocument/2006/relationships/image" Target="/ppt/media/image57.png" Id="R1cad456b5d1f4114" /><Relationship Type="http://schemas.openxmlformats.org/officeDocument/2006/relationships/image" Target="/ppt/media/image58.png" Id="R55dbb55bf0de4d03" /><Relationship Type="http://schemas.openxmlformats.org/officeDocument/2006/relationships/image" Target="/ppt/media/image59.png" Id="Rb9383f4de9034785" /><Relationship Type="http://schemas.openxmlformats.org/officeDocument/2006/relationships/notesSlide" Target="/ppt/notesSlides/notesSlide18.xml" Id="R3bcb05e528454b5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e9f7dc2dc64faf" /><Relationship Type="http://schemas.openxmlformats.org/officeDocument/2006/relationships/notesSlide" Target="/ppt/notesSlides/notesSlide19.xml" Id="R9111120c163c439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38BB0-F913-4F2E-A8CC-6195C02E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Launch vehicle optimization</a:t>
            </a:r>
          </a:p>
          <a:p xmlns:a="http://schemas.openxmlformats.org/drawingml/2006/main">
            <a:pPr>
              <a:buNone/>
              <a:def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with booster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47EC56-3B92-4047-8412-1488AAE3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80BD77-F486-4DE6-9DE3-D85446BE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550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General launch vehicle formulation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AFEF8-423E-450D-971F-B6002AD3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9858375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32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Maximum payload to a specified orbit, subject to ascent and recovery constraints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AE78E-E0BF-4A98-B40D-913FDB7C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096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Mark Pustilnik and Francesco Borrelli</a:t>
            </a:r>
          </a:p>
          <a:p xmlns:a="http://schemas.openxmlformats.org/drawingml/2006/main">
            <a:pPr>
              <a:buNone/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MPC Lab, UC Berkeley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D71AF1-8B59-4386-802F-5FC689F0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769970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6DD98-BDB7-412C-A0F2-927E7E58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Propulsion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7109B-8E54-4998-86C6-73907F72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809750"/>
            <a:ext cx="39338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Engine inputs</a:t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Sea-level and vacuum thrust</a:t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Reference specific impulse</a:t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Minimum throttle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Active engine configuration sets thrust capacity.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η₂,min sets upper-stage Isp at minimum throttle.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40EC2-B466-4930-BF70-97E112C3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Upper-stage throttle is fT = ‖F‖ / T₂,max. Engine-off segments have zero thrust and mass 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3308A-685D-4A6B-B556-81B7234E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C29F8-C5D2-4D8B-8A67-CC804DE5A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3c779adeb49fc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5853317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766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6C781-C27C-404B-BA87-19CB9BC4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Mass and separation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2E9F6-311A-456A-83D3-6E82B013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809750"/>
            <a:ext cx="39338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Mass inputs</a:t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Stage dry masses</a:t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Stage propellant loads</a:t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Fairing mass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Payload mass is the objective.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Recovery feasibility sets the booster propellant reserve.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D9ABB-CB08-4B17-A2CC-12B1B8B0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Inert masses are inputs. The framework tracks mass rather than sizing structures.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0A93B-B11E-4873-A68F-81793FE9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BA8BE6-77FD-4D84-8803-1A32721D4F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20b25c380449b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5010527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280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BFFD1-F2BC-40E9-826D-FD68E789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Aerodynamic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766B5A-54B8-430D-A076-24A756A5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809750"/>
            <a:ext cx="39338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Reference area and aerodynamic coefficients are inputs.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Ascent uses constant base drag and an α²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Return flight neglects lift.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E958A-3A10-4A05-9317-05241780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Air-relative speed equals local speed under the no-wind assumption.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F204B-5314-423B-B69F-FA830462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58A34-4A14-4EE1-A05D-79F19993A4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30dbd5b164408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494091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BCA8DD-7391-44BF-8CCB-EA6B4C98ED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4822a75ce45a5"/>
          <a:stretch xmlns:a="http://schemas.openxmlformats.org/drawingml/2006/main"/>
        </p:blipFill>
        <p:spPr>
          <a:xfrm xmlns:a="http://schemas.openxmlformats.org/drawingml/2006/main">
            <a:off x="609600" y="5181600"/>
            <a:ext cx="6536531" cy="32146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8310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BD997-8039-493F-9ABC-AEE51964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Atmosphere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AFAB4-B4D5-4EA3-A588-183C80FF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809750"/>
            <a:ext cx="39338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Altitude-dependent density, pressure, and sound speed come from atmosphere tables.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Density and pressure interpolate in log space.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Sound speed interpolates linearly.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E1A6B-6260-4F5F-A943-48655861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The nominal model assumes no wind and a spherical Earth.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FE81B-987A-4212-A89F-4C9F2945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AC1120-E721-4DAF-8516-A587AB9FB6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1b5d4482c14327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2114621" cy="269455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731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A58EF-C118-4CF6-8386-A7965DE9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Gravity and coordinate frames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0667D-B5A7-4454-91AC-60D42EB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809750"/>
            <a:ext cx="39338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Earth radius and gravitational parameter define the gravity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Local frame: planar ascent and booster return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ECI frame: upper-stage flight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8A7CD8-6970-48E3-984A-99424CF4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Local-phase Earth rotation effects are neglected. The ECI initialization includes rotation.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EEE0D-9CC6-48D2-832F-9A22467C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DB8BA-77CD-4A34-A5EB-182CD34D81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26795532b4e09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2933424" cy="3333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327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7BE4F9-194D-4614-BF7C-E3ADF5F0B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Heating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FC7AB-F81E-4291-AECB-F5C64FF4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809750"/>
            <a:ext cx="393382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The empirical heating coefficient represents geometry effects.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Maximum heat flux and dynamic pressure are inputs.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Entry burn reduces speed before descent.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168181-6A78-4462-9154-5AFD682E2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The heat-flux constraint does not model wall temperature or accumulated thermal load.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E8F0C-2235-4611-9635-7841A811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F5780-60DA-4AC6-BA19-1C6584B64E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2492416f84840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1796367" cy="195195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794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3FE8A-5364-40D9-BB94-9AE6FAE9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Phase 1: first-stage ascent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90C3-E46F-42BC-B811-A4762351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(LOCAL FRAME, 5)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C71E11-3F0F-4669-91B4-325A012F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1CF89-0F39-4DB8-98DB-1A1F80FE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6073AC-9A4C-4563-A986-3B398998A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6A683-6D3B-4E20-9828-76A14DF0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Optimize throttle, angle of attack, launch azimuth, and ascent duration.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A111C-0E17-426F-8414-4B773DEC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Rise duration, angle-of-attack limit, and maximum payload load are prescribed parameters.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2E86A4-4619-4997-B48C-F94A4D63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0B1F2-0C32-40B0-A4E2-C355EF7063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d3be1edd54799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095744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77A32-86F2-4634-8C96-24AC5E5E2E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3874983416414c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1747504" cy="42241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3729ED-F956-4912-9549-3F3BA90AB5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7530ae30848b2"/>
          <a:stretch xmlns:a="http://schemas.openxmlformats.org/drawingml/2006/main"/>
        </p:blipFill>
        <p:spPr>
          <a:xfrm xmlns:a="http://schemas.openxmlformats.org/drawingml/2006/main">
            <a:off x="609600" y="2190750"/>
            <a:ext cx="2520315" cy="257175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6E254-E780-468D-9AC2-D4B0CD87BB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84ef8f37f14ecc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4046220" cy="2249424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49EC44-D611-4754-A76E-714FAD27D0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2367565d5e45a8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3330416" cy="218427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1690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EFE11-3445-49C5-A83D-74922E75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Phase 2: upper stage before fairing release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1E984-C904-44A1-9B34-42363C1E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(ECI FRAME, 7)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C7AC40-C207-4FD4-9C5D-E78B0E46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88368A-5A12-425B-AB5C-A16C1922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70737-BE48-492C-B2F3-87FF5559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AEEC1-2AE7-413D-8BC5-4A8D0EBD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Separation sets the ECI initial state. A prescribed coast duration precedes SES-1.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A8596E-C359-4CAD-B0E7-C06699CB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The supplied code uses an altitude release gate and has no explicit acceleration bound in this segment.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F292AD-D162-46A6-BF54-E6214320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FE739-33F5-4C12-99D9-4CD7005E83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2260cc5ee3456a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4316682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E42DE1-9E2F-4DD2-AD4B-05E235F235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b2eb5a9f544d5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2418731" cy="42241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7EFD0-B8B7-4DAB-8A80-B4E1F47CCF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ea00e7135e49ff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2482596" cy="2338578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026A4-7218-44A4-A298-35E90F04D9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6e0a08182148e4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2934367" cy="178822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61677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337E4-D4CB-431A-97C1-B0D5B327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Phase 3: upper stage to parking orbit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3FC4EF-BFE3-46B2-98D6-F3571AD5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(ECI FRAME, 7)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A14575-6AD7-4DDC-A017-C016B37C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62449-36CA-41B1-A5B9-A42DD997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7D6631-DE0E-4C7A-970B-24E0094D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5CB72C-5B78-4FAC-B46F-3E1614E3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Fairing jettison lowers mass. The optimizer reaches a parking orbit and preserves restart propellant.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9358D-D3F3-4B1D-8698-FE3F182D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SES-1 ends when the parking-orbit boundary conditions and propellant reserve are feasible.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843D1F-101A-4C00-AD9E-2AEECFCCA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E4A89A-37AB-46C6-B56E-66EA1B6C55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55cfb00474670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4316682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B3FE23-13F0-46D0-99A7-F31EE54747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f73910984481b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902684" cy="266176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8964B-BFFC-4A35-8FD4-423C5D43FA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d1684ee42412f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2482596" cy="2338578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DA4B88-CADF-4D29-A966-E7DC340972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d217790244c49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3346334" cy="2524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1508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AF9D2-619D-4696-AB57-BF665D7F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Upper-stage coast to the second ignition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EA0F7-72F4-47D6-8D8F-97FAB8D9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(ECI FRAME, 7)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F5799-AFD6-4434-919C-6C14E3BB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4C48A0-B72D-4CC8-B7B7-A80BF1FF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21BAC-D122-4491-8DFD-CBCE9262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E45E5-61CB-40BB-9A06-D981F3CA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The upper stage coasts to parking-orbit apogee before SES-2.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F878D-0D24-40A5-A7A1-22F95ABF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Current code evaluates the maneuver at this apsis analytically; it does not optimize the coast 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0A041F-8DFE-4F44-9487-E68D870A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3F1A9C-2CF7-4662-8D94-725FD4FC4C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4141a8e204268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4316682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78423C-B91D-4C0F-9B01-9F1EF7073A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00a81a96864000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1747504" cy="266176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A2E9C1-AB03-4741-8724-46839EBB32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ae136fbca4c02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1837944" cy="1906524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B7573-90CB-4B37-8921-40D28A2D35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b441028b8495a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3978497" cy="177022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30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A028C-20D4-43D3-B80E-0C026256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SES-2: parking orbit to final orbit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5E3A6-E95C-460D-B578-944740A8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(ECI FRAME, 7)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8B520-308A-4CC9-828F-835540E1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2AFA31-AF86-4EF1-B9DB-93919113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IMPULSIVE BURN 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CFE6E-80E9-4963-B63F-32488E22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0418C-57DF-4838-A411-DE7C25A5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A tangential restart reaches the target apogee. Reserve calculation uses the configured restart Isp.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32521-2FA6-4A09-B702-1FEF0ABE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Current formulation: impulsive state jump and propellant reserve. A finite burn requires the ECI thrust dynamics.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ABA7C-6E0F-4B43-8C51-45715AC40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D3638B-115E-40BD-AE3F-E57ECAE1C1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3f23f6cbb4e53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4316682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DA719E-1E69-4B79-BE21-609D8B10FE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907d9e6044509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2256711" cy="324041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A95695-4642-4998-991A-58E56BBE9C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204792eff54b56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3837978" cy="2524125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52B19-CD3D-4E4D-98D8-9E199890A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3cb7bd5ad41f6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3082032" cy="2524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519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7724F-5174-471B-99D1-E41A5CB8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Recovery: RTLS boostback burn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E2412-78DF-4E31-A526-A53F3CF0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(LOCAL FRAME, 5)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3428F-82D6-49DA-9192-1FD8AC0B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44EE6-BEC3-45B1-996F-43EF72DE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08150-4D9D-4594-8F76-F60FFC38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2B663-0C8E-4DAB-94ED-FF5BC19B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Optimize a planar thrust vector and burn duration to make the RTLS landing feasible.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B1CF3-A2A1-4C24-AC2C-7AF95FDCB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RTLS uses boostback. Configured engine capacity sets thrust and Isp. ASDS starts with coast.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5DF01-4389-4944-AEE2-2EE0ABD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F38BF-C3FE-470D-AEB6-8915DB7D0C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ddba4e9954620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095744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DCDE8-C871-4763-AB87-5B60974F9E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84c885f0846df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2754344" cy="42241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44CBB-47F2-463B-AF19-74419ECB37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3a35770ad4d36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2407158" cy="2263140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D2F33-6463-47C2-85A3-BD685EE04E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016aa6d01447a0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4014502" cy="172821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9495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305F6-1326-4CD0-8FF5-5D28909A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Recovery: ballistic coast before entry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5F9952-D7DB-4432-84AD-4B5ABE9A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(LOCAL FRAME, 5)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EB610-EA38-456C-8C88-BDC81675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A8F95-324C-4B30-92F6-50DBCB75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3AB7BC-D623-43B8-902D-1A6D15DC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BABA9-F9B1-4F7B-82C9-D957F50B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Gravity and drag evolve the booster state with the engines off.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C348A1-5D92-4477-94DC-5A83FBD6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The entry start time is optimized subject to the altitude gate; it is not a fixed-altitude trigger.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B4788-DF19-4E77-A5CE-775F6535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619DFB-6692-42C8-AA20-1DB883D709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78f22c4304b47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095744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98B78-D6A8-4CA4-890C-32F07F5EDA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8d5e38f4e4d79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1429250" cy="26039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F402D5-93C0-4B31-BDAD-35870D48A1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dad9476b434835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2462022" cy="2516886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E55CA2-9839-4862-A203-78ADBB8807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216b78093f4822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2436305" cy="12781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163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347CC2-C95F-4DB8-92AB-055E7089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Recovery: entry burn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1BC22-5F0A-4D98-8C70-0459891A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(LOCAL FRAME, 5)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AE942A-AC58-40A5-B505-531A3FC6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5FEF8-D9CB-433B-9FA6-CDF92F89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43CC9-1CDD-4DB2-96A1-30F3E5B3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7FE03-3748-4029-8FC2-DF13CCF4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Thrust opposes velocity. A single throttle and burn duration set the post-entry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C62012-F114-472E-B17A-F5123F29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The active engine configuration sets recovery reference thrust and the entry throttle bounds.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FDB1A-E25D-4A19-A5BA-C5A142CA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15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E865A8-7AD0-4CD7-B5B6-7E6E1467C9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38b54c8ce420b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095744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7E81D9-3931-44BF-ABE6-19025B1D84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d5147bec94e40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1336667" cy="306681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DEFA95-40A1-4ECC-AA3A-385ABB5088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b4f64db8174562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3010662" cy="2249424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EBE5B-6A10-49ED-B5BD-F1B31597A4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bf351431b74e95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4134517" cy="172821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9396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454487-630E-42F4-A7C4-060E6C71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Recovery: atmospheric descent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E13EA2-C4AA-4757-8D47-BCC58878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(LOCAL FRAME, 5)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93D4F3-5C7F-479D-ACDF-2A3CAB3F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D5876-C5DD-4934-88DC-0D49B592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7DB4FF-1498-460A-A37C-6FEA7058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54BC0-56D4-4FB3-A219-20B9014F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After the entry burn, drag slows the booster while the optimizer selects the landing-burn start.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553B90-7951-479D-BA9B-641D279F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Landing ignition has no fixed altitude gate in this model. Terminal landing feasibility sets its timing.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D5BBD-729D-4602-B3BC-52CBB0E5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16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F1AA3-C4AD-42A6-A8B9-EE98B04E9B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89fc4c1694489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095744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0CEBCF-2B96-4137-A2B5-0176837B7F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97d1fe5664964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1382959" cy="260390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59AF2-7863-4A9D-A4C4-A70C664D22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e62361ff3f47ef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2427732" cy="1899666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7CCC1-412B-4956-8362-64EEFFAB9F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50914903d43ba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2622328" cy="12781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3496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6B0F09-9EF8-444C-88CF-01832183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Recovery: landing burn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C0D0E-E70F-436C-B70D-BAE65C65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5810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STATES (LOCAL FRAME, 5)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0D9EBC-3FF3-4C83-B364-C25378DB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371600"/>
            <a:ext cx="4629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INPUTS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B90A0-B169-4A8A-AD86-EE62E16A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6000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EQUATIONS OF MOTION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FBF059-1CEE-41A5-98A3-31A392B7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43175"/>
            <a:ext cx="4629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CONSTRAINTS AND TRANSITIONS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7D510-573F-40A0-86FD-799E6910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Optimize the throttle trajectory and landing duration to reach the surface at low speed.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ED14F-530D-4E16-8548-3CDFA1EF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382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Configured landing throttle bounds set thrust capacity. ASDS leaves downrange position free.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760C33-5938-4A9B-AA1C-CCED8001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17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596D25-1221-4DF3-A906-D29D68321C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bbe72722954319"/>
          <a:stretch xmlns:a="http://schemas.openxmlformats.org/drawingml/2006/main"/>
        </p:blipFill>
        <p:spPr>
          <a:xfrm xmlns:a="http://schemas.openxmlformats.org/drawingml/2006/main">
            <a:off x="609600" y="1714500"/>
            <a:ext cx="3095744" cy="422410"/>
          </a:xfrm>
          <a:prstGeom xmlns:a="http://schemas.openxmlformats.org/drawingml/2006/main" prst="rect">
            <a:avLst/>
          </a:prstGeom>
        </p:spPr>
      </p:pic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091FFB-9EF2-49A4-820A-DB2F5DFFE7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07d178c8e0494c"/>
          <a:stretch xmlns:a="http://schemas.openxmlformats.org/drawingml/2006/main"/>
        </p:blipFill>
        <p:spPr>
          <a:xfrm xmlns:a="http://schemas.openxmlformats.org/drawingml/2006/main">
            <a:off x="6953250" y="1714500"/>
            <a:ext cx="1840087" cy="312468"/>
          </a:xfrm>
          <a:prstGeom xmlns:a="http://schemas.openxmlformats.org/drawingml/2006/main" prst="rect">
            <a:avLst/>
          </a:prstGeom>
        </p:spPr>
      </p:pic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5EE215-9899-4D0D-8A36-5AB67785E0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69630dba64196"/>
          <a:stretch xmlns:a="http://schemas.openxmlformats.org/drawingml/2006/main"/>
        </p:blipFill>
        <p:spPr>
          <a:xfrm xmlns:a="http://schemas.openxmlformats.org/drawingml/2006/main">
            <a:off x="609600" y="2933700"/>
            <a:ext cx="3010662" cy="2249424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2D6B7-A1F5-4850-9F46-51B3DBCE1A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89cdffcb94933"/>
          <a:stretch xmlns:a="http://schemas.openxmlformats.org/drawingml/2006/main"/>
        </p:blipFill>
        <p:spPr>
          <a:xfrm xmlns:a="http://schemas.openxmlformats.org/drawingml/2006/main">
            <a:off x="6953250" y="2933700"/>
            <a:ext cx="3605071" cy="2524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565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375467-1EAB-4ECE-8849-9971569BBEE2}"/>
              </a:ext>
            </a:extLst>
          </p:cNvPr>
          <p:cNvCxnSpPr>
            <a:stCxn xmlns:a="http://schemas.openxmlformats.org/drawingml/2006/main" id="27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8810625" y="5253038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AC4378-5000-41FA-86DC-39395F26505C}"/>
              </a:ext>
            </a:extLst>
          </p:cNvPr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038850" y="5253038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0A9DB8-E068-4EA1-AB2F-AB4D26DD6A2D}"/>
              </a:ext>
            </a:extLst>
          </p:cNvPr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267075" y="5253038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145560-3C5A-4C4E-BCB4-931DE1631C30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810625" y="3357563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5FEF30-B9FE-4C72-9D80-071CDDDAB94B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6038850" y="3357563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5C6EF-3C71-43A4-B2E8-B179C81A2BD6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267075" y="3357563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3AAF07-7B07-4498-8D42-E7E2A206449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858000" y="171450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F6C8E-F830-4E04-972C-FBEB2A6C175A}"/>
              </a:ext>
            </a:extLst>
          </p:cNvPr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76600" y="17145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6A87"/>
            </a:solidFill>
            <a:tailEnd type="triangle" w="med" len="med"/>
          </a:ln>
        </p:spPr>
      </p:cxn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88F6F3-E93B-411F-92EB-73322240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Flight logic and transition conditions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582F7-3F61-4146-9113-C94E4CB6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266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3190C-F4FC-48BA-928F-F29228B4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5732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Initial vertical rise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FC14B-ACE3-42B7-8293-E186EECE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35255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7D657-D477-43D7-A4EE-1CB8BA0B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457325"/>
            <a:ext cx="3009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Optimized ascent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B471FA-A3FA-4AA5-A4E6-810C24E7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362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176F1-850E-4332-BA38-587155F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57325"/>
            <a:ext cx="413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Stage separation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A4B652-C4BB-452B-915E-B0AC4DB4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UPPER STAGE  •  after separation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4B3B8-E6E3-4C24-AD94-A7A2C18C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265747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D45A39-764D-40C3-A1D7-8B8F9C70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SES-1: fairing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1C577-778D-4957-9A4C-F2A69CC1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676525"/>
            <a:ext cx="265747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213278-7ECC-4946-93EA-F157159C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78130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SES-1: parking orbit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69849D-329D-449F-9CA1-83832EC3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76525"/>
            <a:ext cx="265747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AC9B6C-C9E6-4FD5-8817-75F7EC33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Coast to apogee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10DE10-A533-4457-951B-9B2C640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676525"/>
            <a:ext cx="2657475" cy="1362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9FE3A-2919-4A47-99F5-616E6B30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78130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SES-2: final orbit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B92FB4-23CF-43ED-8DD8-5B62AB16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10972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BOOSTER  •  RTLS uses boostback; ASDS starts with coast; EXP omits this branch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AD7F33-96D7-4291-AA1A-A3AB8F23D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265747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2A76A1-D82F-4119-8F0A-696E30BF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RTLS boostback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1E08A-7390-4B80-BCF7-50AE4E78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600575"/>
            <a:ext cx="265747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E6AA86-19A6-4D33-B64A-AC6BF340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4705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Coast to entry burn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702585-1B41-414B-A9DE-9123CBFD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600575"/>
            <a:ext cx="265747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2443FF-FA3B-4B23-8081-4AC5A433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05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Entry + descent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DA3697-82AF-4BB1-9C7A-CFD53DD8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600575"/>
            <a:ext cx="265747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8EA9B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A219EB-BEDE-4969-812F-868D683F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705350"/>
            <a:ext cx="2428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Landing burn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684790-965C-41D2-97A4-56C320F0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Phase gates and time bounds are input parameters. Landing ignition follows endpoint feasibility.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B2234E-6ACB-41A3-8D22-EA185A1D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18</a:t>
            </a:r>
          </a:p>
        </p:txBody>
      </p:sp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408004-908B-4933-92AC-B345C23DF2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19576d74f4278"/>
          <a:stretch xmlns:a="http://schemas.openxmlformats.org/drawingml/2006/main"/>
        </p:blipFill>
        <p:spPr>
          <a:xfrm xmlns:a="http://schemas.openxmlformats.org/drawingml/2006/main">
            <a:off x="762000" y="1714500"/>
            <a:ext cx="905256" cy="221171"/>
          </a:xfrm>
          <a:prstGeom xmlns:a="http://schemas.openxmlformats.org/drawingml/2006/main" prst="rect">
            <a:avLst/>
          </a:prstGeom>
        </p:spPr>
      </p:pic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F797EB-32C6-4AFF-92EF-5FCDC5F1CA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4bf520bd72499b"/>
          <a:stretch xmlns:a="http://schemas.openxmlformats.org/drawingml/2006/main"/>
        </p:blipFill>
        <p:spPr>
          <a:xfrm xmlns:a="http://schemas.openxmlformats.org/drawingml/2006/main">
            <a:off x="3733800" y="1724025"/>
            <a:ext cx="2497812" cy="247531"/>
          </a:xfrm>
          <a:prstGeom xmlns:a="http://schemas.openxmlformats.org/drawingml/2006/main" prst="rect">
            <a:avLst/>
          </a:prstGeom>
        </p:spPr>
      </p:pic>
      <p:pic>
        <p:nvPic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1E6614-D84A-414C-A4F5-8DB5528699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2cbe5f02c4dcf"/>
          <a:stretch xmlns:a="http://schemas.openxmlformats.org/drawingml/2006/main"/>
        </p:blipFill>
        <p:spPr>
          <a:xfrm xmlns:a="http://schemas.openxmlformats.org/drawingml/2006/main">
            <a:off x="7334250" y="1714500"/>
            <a:ext cx="3780473" cy="247531"/>
          </a:xfrm>
          <a:prstGeom xmlns:a="http://schemas.openxmlformats.org/drawingml/2006/main" prst="rect">
            <a:avLst/>
          </a:prstGeom>
        </p:spPr>
      </p:pic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5E4BE4-CFE4-4A49-ADF2-8E2DBF3637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2f6cd929e94959"/>
          <a:stretch xmlns:a="http://schemas.openxmlformats.org/drawingml/2006/main"/>
        </p:blipFill>
        <p:spPr>
          <a:xfrm xmlns:a="http://schemas.openxmlformats.org/drawingml/2006/main">
            <a:off x="762000" y="3267075"/>
            <a:ext cx="1829068" cy="647700"/>
          </a:xfrm>
          <a:prstGeom xmlns:a="http://schemas.openxmlformats.org/drawingml/2006/main" prst="rect">
            <a:avLst/>
          </a:prstGeom>
        </p:spPr>
      </p:pic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27536C-DDC0-442F-BD41-EF1CC12283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8cfd6239b64fd5"/>
          <a:stretch xmlns:a="http://schemas.openxmlformats.org/drawingml/2006/main"/>
        </p:blipFill>
        <p:spPr>
          <a:xfrm xmlns:a="http://schemas.openxmlformats.org/drawingml/2006/main">
            <a:off x="3533775" y="3162300"/>
            <a:ext cx="1674522" cy="752475"/>
          </a:xfrm>
          <a:prstGeom xmlns:a="http://schemas.openxmlformats.org/drawingml/2006/main" prst="rect">
            <a:avLst/>
          </a:prstGeom>
        </p:spPr>
      </p:pic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A2D785-4197-4FB4-BBCC-D57D956F20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5c022a9edd4f1c"/>
          <a:stretch xmlns:a="http://schemas.openxmlformats.org/drawingml/2006/main"/>
        </p:blipFill>
        <p:spPr>
          <a:xfrm xmlns:a="http://schemas.openxmlformats.org/drawingml/2006/main">
            <a:off x="6305550" y="3267075"/>
            <a:ext cx="1633330" cy="647700"/>
          </a:xfrm>
          <a:prstGeom xmlns:a="http://schemas.openxmlformats.org/drawingml/2006/main" prst="rect">
            <a:avLst/>
          </a:prstGeom>
        </p:spPr>
      </p:pic>
      <p:pic>
        <p:nvPic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91F942-3DBE-47BB-B87E-E7F714241C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b3fcf01ef4bb3"/>
          <a:stretch xmlns:a="http://schemas.openxmlformats.org/drawingml/2006/main"/>
        </p:blipFill>
        <p:spPr>
          <a:xfrm xmlns:a="http://schemas.openxmlformats.org/drawingml/2006/main">
            <a:off x="9077325" y="3162300"/>
            <a:ext cx="1377236" cy="752475"/>
          </a:xfrm>
          <a:prstGeom xmlns:a="http://schemas.openxmlformats.org/drawingml/2006/main" prst="rect">
            <a:avLst/>
          </a:prstGeom>
        </p:spPr>
      </p:pic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930C01-1C0F-44E6-AB29-04847089EA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7f3f48f5b4678"/>
          <a:stretch xmlns:a="http://schemas.openxmlformats.org/drawingml/2006/main"/>
        </p:blipFill>
        <p:spPr>
          <a:xfrm xmlns:a="http://schemas.openxmlformats.org/drawingml/2006/main">
            <a:off x="762000" y="5200650"/>
            <a:ext cx="1376777" cy="581025"/>
          </a:xfrm>
          <a:prstGeom xmlns:a="http://schemas.openxmlformats.org/drawingml/2006/main" prst="rect">
            <a:avLst/>
          </a:prstGeom>
        </p:spPr>
      </p:pic>
      <p:pic>
        <p:nvPic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12CF57C-E984-4229-A3B8-A0D1D7EC86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d456b5d1f4114"/>
          <a:stretch xmlns:a="http://schemas.openxmlformats.org/drawingml/2006/main"/>
        </p:blipFill>
        <p:spPr>
          <a:xfrm xmlns:a="http://schemas.openxmlformats.org/drawingml/2006/main">
            <a:off x="3533775" y="5200650"/>
            <a:ext cx="1553610" cy="581025"/>
          </a:xfrm>
          <a:prstGeom xmlns:a="http://schemas.openxmlformats.org/drawingml/2006/main" prst="rect">
            <a:avLst/>
          </a:prstGeom>
        </p:spPr>
      </p:pic>
      <p:pic>
        <p:nvPic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249813A-9D17-476F-AE12-3954A0BCD2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bb55bf0de4d03"/>
          <a:stretch xmlns:a="http://schemas.openxmlformats.org/drawingml/2006/main"/>
        </p:blipFill>
        <p:spPr>
          <a:xfrm xmlns:a="http://schemas.openxmlformats.org/drawingml/2006/main">
            <a:off x="6305550" y="5200650"/>
            <a:ext cx="976796" cy="581025"/>
          </a:xfrm>
          <a:prstGeom xmlns:a="http://schemas.openxmlformats.org/drawingml/2006/main" prst="rect">
            <a:avLst/>
          </a:prstGeom>
        </p:spPr>
      </p:pic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57D5606-53C7-4CBA-8D9D-A9DCCB4F69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83f4de9034785"/>
          <a:stretch xmlns:a="http://schemas.openxmlformats.org/drawingml/2006/main"/>
        </p:blipFill>
        <p:spPr>
          <a:xfrm xmlns:a="http://schemas.openxmlformats.org/drawingml/2006/main">
            <a:off x="9077325" y="5105400"/>
            <a:ext cx="1050925" cy="6762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96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C5D3D-F823-4DFE-8EB6-8E0E7135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Summary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B8ECCA-6AEA-4FF2-AE5B-34CB54F8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81750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AC5E3-1F04-45E8-92AD-B5AC38DB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1057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700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One optimization couples payload delivery</a:t>
            </a:r>
          </a:p>
          <a:p xmlns:a="http://schemas.openxmlformats.org/drawingml/2006/main">
            <a:pPr>
              <a:buNone/>
              <a:defRPr sz="2700" b="1">
                <a:solidFill>
                  <a:srgbClr val="006A87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006A87"/>
                </a:solidFill>
                <a:latin typeface="DejaVu Sans"/>
                <a:ea typeface="DejaVu Sans"/>
                <a:cs typeface="DejaVu Sans"/>
              </a:rPr>
              <a:t>and booster recovery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11C25F-788F-4491-B218-E9094D5F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CasADi and IPOPT solve the coupled trajectory problem.</a:t>
            </a:r>
          </a:p>
          <a:p xmlns:a="http://schemas.openxmlformats.org/drawingml/2006/main">
            <a:pPr>
              <a:buNone/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The nonlinear formulation produces a local optimum.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AF690-0668-4E84-9644-0A9748A7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907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Recovery propellant and flight constraints change</a:t>
            </a:r>
          </a:p>
          <a:p xmlns:a="http://schemas.openxmlformats.org/drawingml/2006/main">
            <a:pPr>
              <a:buNone/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the ascent trajectory and achievable payload.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EA75D-1706-46C5-A552-4283D6C8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Vehicle inputs support comparisons between recovery modes</a:t>
            </a:r>
          </a:p>
          <a:p xmlns:a="http://schemas.openxmlformats.org/drawingml/2006/main">
            <a:pPr>
              <a:buNone/>
              <a:def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5334A"/>
                </a:solidFill>
                <a:latin typeface="DejaVu Sans"/>
                <a:ea typeface="DejaVu Sans"/>
                <a:cs typeface="DejaVu Sans"/>
              </a:rPr>
              <a:t>and evaluating sensitivity to vehicle parameters.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D6EB8-2963-40D7-BDDA-3EAC57699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5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Scope: preliminary performance analysis with simplified recovery dynamics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7CED1-580E-4FDF-94E1-A5008014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D6271"/>
                </a:solidFill>
                <a:latin typeface="DejaVu Sans"/>
                <a:ea typeface="DejaVu Sans"/>
                <a:cs typeface="DejaVu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341947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2026-10-13T21:13:13.4410000Z</dcterms:created>
  <dcterms:modified xsi:type="dcterms:W3CDTF">2026-10-13T21:13:13.4410000Z</dcterms:modified>
</coreProperties>
</file>